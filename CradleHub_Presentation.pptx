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I am Malcom P. Gwanmesia, and today I will present my final project: CradleHub, a Spa Booking and Management System designed for Cradle Massage &amp; Wellness Spa. This presentation will walk you through the company background, business needs, system features, project management charts, cost-benefit analysis, and a preview of the proposed system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of our presentation. We will begin with the company background and current problems, then move into the purpose and objectives of CradleHub. After that, we will explore the system features, project management charts, cost-benefit analysis, and GUI proposal. Finally, we will summarize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Cradle Massage &amp; Wellness Spa is a real wellness business that provides professional massage and spa services. They cater to walk-in customers, online bookers, and home-service clients. With multiple branches and a growing team, the business needs a structured system to manage daily operations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problems the spa currently faces. Without a centralized system, bookings get lost, schedules clash, and both staff and customers experience frustration. Managers also struggle to get a clear picture of what is happening across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CradleHub is straightforward: to centralize and automate the spa's booking and management workflows. Instead of scattered messages and paper notes, everything lives in one system. This reduces errors, saves time, and improves the experience for both customers and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guide the design of CradleHub. Each one addresses a specific pain point: customer convenience, schedule accuracy, error prevention, multi-channel support, and management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is included in the current scope of CradleHub and what can be added in future versions. The core system handles booking, scheduling, and management. Future expansions like online payments and SMS reminders can be integrated once the business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CradleHub is designed for five user groups. Customers use the public booking page. CSR and front desk staff use the CRM workspace. Managers handle staff and schedules. Service staff view their appointments. Owners monitor the overall business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functional requirements define what CradleHub must be able to do. They cover the full lifecycle of a booking: from customer browsing to staff assignment to status tracking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Non-functional requirements ensure the system is not just functional, but also usable, fast, secure, and professional. These standards guide the design decisions for the user interface, database, and deployment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CradleHub offers ten core features. The public booking wizard is the customer-facing entry point. Behind that, managers can configure services, branches, and staff. The availability engine prevents double bookings. The CRM workspace helps front desk staff. The staff portal keeps therapists informed. Dashboards give owners the big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customer booking workflow. Each step is simple and guided. The system checks availability in real time, so customers only see times when a qualified therapist is free. This prevents the double-booking problem that manual systems often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every available time slot is a staff schedule. Managers set weekly hours, and the system respects those hours when generating slots. If a therapist is off, on break, or already booked, the system hides those slots automatically. This keeps the schedule accurate and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Gantt chart shows the 8-week development plan. Weeks 1 through 3 focus on planning and design. Weeks 4 through 6 are the core development phase for the GUI, booking engine, and workspaces. Week 7 is for testing and debugging. Week 8 is for documentation and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PERT chart shows task dependencies. Requirements lead to background study, which leads to feature analysis. From there, database design and GUI design happen in parallel. Both feed into the booking module. The booking module then branches into staff scheduling and manager workspaces. Testing follows development, then documentation, and finally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cost-benefit analysis compares what the spa invests versus what it gains. Costs are mainly development time, hosting, and training. Benefits include faster operations, fewer errors, happier customers, and a more professional business image that can lead to more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realistic estimates for a student-project level system. The main cost is development time. Hosting and database can start on free tiers and scale as the business grows. Maintenance costs are optional and depend on how much support the spa needs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Tangible benefits are measurable: less manual work, faster bookings, better staff utilization. Intangible benefits are equally important: customer trust, professional image, and reduced stress for the team. Together, they create a stronger, more competitive spa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home page is the first impression for customers. It features a premium hero section, clear call-to-action to book, service previews, branch information, and trust signals. The design uses warm cream, forest green, and gold to match the spa's brand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wizard is a six-step guided experience. Customers never feel lost because each step is clear and visual. The system checks availability in real time, so customers only see valid options. The therapist step now shows role labels instead of internal tiers, keeping the experience customer-friendly.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CRM workspace is designed for front desk staff. It shows today's bookings at a glance, allows quick walk-in creation, and makes it easy to update booking statuses. The schedule view gives a visual timeline of who is working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workspace is the command center for branch operations. It combines a dashboard with staff management, schedule editing, booking oversight, resource tracking, and reporting. Everything a manager needs is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staff portal is designed for therapists and service staff. It focuses on what they need most: their appointments, their schedule, and the ability to update booking progress. The weekly view helps them plan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CradleHub uses a modern web architecture. The public website and admin workspaces are built with Next.js and Tailwind CSS. The booking engine runs as Supabase RPC functions for speed and reliability. Supabase provides the database, authentication, and row-level security. Deployment is on Vercel for fast global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is modern and proven. Next.js provides server-side rendering and API routes. TypeScript ensures type safety. Tailwind CSS enables rapid styling. Supabase handles the database, auth, and real-time features. Vercel deploys the app globally with minimal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CradleHub is useful because it addresses real problems. Spas lose bookings when customers have to call or message. Staff get confused when schedules are on paper. Managers lack visibility. CradleHub fixes all of these with one system that grows with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has limitations, and it is important to be transparent about them. Online payments and SMS notifications are powerful features but require third-party integrations. The current system is designed as a web application, with a mobile app as a future 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roadmap for CradleHub includes payment integration, automated notifications, customer loyalty, advanced analytics, and a mobile app. These features can be added incrementally as the business grows and the budget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CradleHub is more than just a booking page. It is a complete operations platform for the spa. It improves the customer experience, helps staff stay organized, gives managers the tools they need, and creates a foundation for future growth.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now ready to answer any questions about CradleHub, the system design, the booking workflow, the project timeline, or anything else you would like to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A96B"/>
          </a:solidFill>
          <a:ln/>
        </p:spPr>
      </p:sp>
      <p:sp>
        <p:nvSpPr>
          <p:cNvPr id="3" name="Text 1"/>
          <p:cNvSpPr/>
          <p:nvPr/>
        </p:nvSpPr>
        <p:spPr>
          <a:xfrm>
            <a:off x="365760" y="4892040"/>
            <a:ext cx="8229600" cy="182880"/>
          </a:xfrm>
          <a:prstGeom prst="rect">
            <a:avLst/>
          </a:prstGeom>
          <a:noFill/>
          <a:ln/>
        </p:spPr>
        <p:txBody>
          <a:bodyPr wrap="square" rtlCol="0" anchor="ctr"/>
          <a:lstStyle/>
          <a:p>
            <a:pPr indent="0" marL="0">
              <a:buNone/>
            </a:pPr>
            <a:r>
              <a:rPr lang="en-US" sz="900" dirty="0">
                <a:solidFill>
                  <a:srgbClr val="6B7A6F"/>
                </a:solidFill>
                <a:latin typeface="Calibri" pitchFamily="34" charset="0"/>
                <a:ea typeface="Calibri" pitchFamily="34" charset="-122"/>
                <a:cs typeface="Calibri" pitchFamily="34" charset="-120"/>
              </a:rPr>
              <a:t>CradleHub  |  Cradle Massage &amp; Wellness Spa</a:t>
            </a:r>
            <a:endParaRPr lang="en-US" sz="900" dirty="0"/>
          </a:p>
        </p:txBody>
      </p:sp>
      <p:sp>
        <p:nvSpPr>
          <p:cNvPr id="4" name="Shape 2"/>
          <p:cNvSpPr/>
          <p:nvPr/>
        </p:nvSpPr>
        <p:spPr>
          <a:xfrm>
            <a:off x="0" y="5074920"/>
            <a:ext cx="9144000" cy="54864"/>
          </a:xfrm>
          <a:prstGeom prst="rect">
            <a:avLst/>
          </a:prstGeom>
          <a:solidFill>
            <a:srgbClr val="163A2B"/>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163A2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A96B"/>
          </a:solidFill>
          <a:ln/>
        </p:spPr>
      </p:sp>
      <p:sp>
        <p:nvSpPr>
          <p:cNvPr id="3" name="Text 1"/>
          <p:cNvSpPr/>
          <p:nvPr/>
        </p:nvSpPr>
        <p:spPr>
          <a:xfrm>
            <a:off x="365760" y="4892040"/>
            <a:ext cx="8229600" cy="182880"/>
          </a:xfrm>
          <a:prstGeom prst="rect">
            <a:avLst/>
          </a:prstGeom>
          <a:noFill/>
          <a:ln/>
        </p:spPr>
        <p:txBody>
          <a:bodyPr wrap="square" rtlCol="0" anchor="ctr"/>
          <a:lstStyle/>
          <a:p>
            <a:pPr indent="0" marL="0">
              <a:buNone/>
            </a:pPr>
            <a:r>
              <a:rPr lang="en-US" sz="900" dirty="0">
                <a:solidFill>
                  <a:srgbClr val="C8A96B"/>
                </a:solidFill>
                <a:latin typeface="Calibri" pitchFamily="34" charset="0"/>
                <a:ea typeface="Calibri" pitchFamily="34" charset="-122"/>
                <a:cs typeface="Calibri" pitchFamily="34" charset="-120"/>
              </a:rPr>
              <a:t>CradleHub  |  Cradle Massage &amp; Wellness Spa</a:t>
            </a:r>
            <a:endParaRPr lang="en-US" sz="900" dirty="0"/>
          </a:p>
        </p:txBody>
      </p:sp>
      <p:sp>
        <p:nvSpPr>
          <p:cNvPr id="4" name="Shape 2"/>
          <p:cNvSpPr/>
          <p:nvPr/>
        </p:nvSpPr>
        <p:spPr>
          <a:xfrm>
            <a:off x="0" y="5074920"/>
            <a:ext cx="9144000" cy="54864"/>
          </a:xfrm>
          <a:prstGeom prst="rect">
            <a:avLst/>
          </a:prstGeom>
          <a:solidFill>
            <a:srgbClr val="C8A96B"/>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4000" b="1" dirty="0">
                <a:solidFill>
                  <a:srgbClr val="C8A96B"/>
                </a:solidFill>
                <a:latin typeface="Calibri" pitchFamily="34" charset="0"/>
                <a:ea typeface="Calibri" pitchFamily="34" charset="-122"/>
                <a:cs typeface="Calibri" pitchFamily="34" charset="-120"/>
              </a:rPr>
              <a:t>CradleHub</a:t>
            </a:r>
            <a:endParaRPr lang="en-US" sz="4000" dirty="0"/>
          </a:p>
        </p:txBody>
      </p:sp>
      <p:sp>
        <p:nvSpPr>
          <p:cNvPr id="3" name="Text 1"/>
          <p:cNvSpPr/>
          <p:nvPr/>
        </p:nvSpPr>
        <p:spPr>
          <a:xfrm>
            <a:off x="457200" y="2468880"/>
            <a:ext cx="8229600" cy="457200"/>
          </a:xfrm>
          <a:prstGeom prst="rect">
            <a:avLst/>
          </a:prstGeom>
          <a:noFill/>
          <a:ln/>
        </p:spPr>
        <p:txBody>
          <a:bodyPr wrap="square" rtlCol="0" anchor="ctr"/>
          <a:lstStyle/>
          <a:p>
            <a:pPr algn="ctr" indent="0" marL="0">
              <a:buNone/>
            </a:pPr>
            <a:r>
              <a:rPr lang="en-US" sz="1800" dirty="0">
                <a:solidFill>
                  <a:srgbClr val="F5F0E8"/>
                </a:solidFill>
                <a:latin typeface="Calibri" pitchFamily="34" charset="0"/>
                <a:ea typeface="Calibri" pitchFamily="34" charset="-122"/>
                <a:cs typeface="Calibri" pitchFamily="34" charset="-120"/>
              </a:rPr>
              <a:t>Spa Booking and Management System</a:t>
            </a:r>
            <a:endParaRPr lang="en-US" sz="1800" dirty="0"/>
          </a:p>
        </p:txBody>
      </p:sp>
      <p:sp>
        <p:nvSpPr>
          <p:cNvPr id="4" name="Text 2"/>
          <p:cNvSpPr/>
          <p:nvPr/>
        </p:nvSpPr>
        <p:spPr>
          <a:xfrm>
            <a:off x="457200" y="3017520"/>
            <a:ext cx="8229600" cy="365760"/>
          </a:xfrm>
          <a:prstGeom prst="rect">
            <a:avLst/>
          </a:prstGeom>
          <a:noFill/>
          <a:ln/>
        </p:spPr>
        <p:txBody>
          <a:bodyPr wrap="square" rtlCol="0" anchor="ctr"/>
          <a:lstStyle/>
          <a:p>
            <a:pPr algn="ctr" indent="0" marL="0">
              <a:buNone/>
            </a:pPr>
            <a:r>
              <a:rPr lang="en-US" sz="1600" dirty="0">
                <a:solidFill>
                  <a:srgbClr val="FAFAFA"/>
                </a:solidFill>
                <a:latin typeface="Calibri" pitchFamily="34" charset="0"/>
                <a:ea typeface="Calibri" pitchFamily="34" charset="-122"/>
                <a:cs typeface="Calibri" pitchFamily="34" charset="-120"/>
              </a:rPr>
              <a:t>A System Proposal for Cradle Massage &amp; Wellness Spa</a:t>
            </a:r>
            <a:endParaRPr lang="en-US" sz="1600" dirty="0"/>
          </a:p>
        </p:txBody>
      </p:sp>
      <p:sp>
        <p:nvSpPr>
          <p:cNvPr id="5" name="Text 3"/>
          <p:cNvSpPr/>
          <p:nvPr/>
        </p:nvSpPr>
        <p:spPr>
          <a:xfrm>
            <a:off x="457200" y="3657600"/>
            <a:ext cx="8229600" cy="320040"/>
          </a:xfrm>
          <a:prstGeom prst="rect">
            <a:avLst/>
          </a:prstGeom>
          <a:noFill/>
          <a:ln/>
        </p:spPr>
        <p:txBody>
          <a:bodyPr wrap="square" rtlCol="0" anchor="ctr"/>
          <a:lstStyle/>
          <a:p>
            <a:pPr algn="ctr" indent="0" marL="0">
              <a:buNone/>
            </a:pPr>
            <a:r>
              <a:rPr lang="en-US" sz="1400" dirty="0">
                <a:solidFill>
                  <a:srgbClr val="C8A96B"/>
                </a:solidFill>
                <a:latin typeface="Calibri" pitchFamily="34" charset="0"/>
                <a:ea typeface="Calibri" pitchFamily="34" charset="-122"/>
                <a:cs typeface="Calibri" pitchFamily="34" charset="-120"/>
              </a:rPr>
              <a:t>Presented by: Malcom P. Gwanmesia</a:t>
            </a:r>
            <a:endParaRPr lang="en-US" sz="1400" dirty="0"/>
          </a:p>
        </p:txBody>
      </p:sp>
      <p:sp>
        <p:nvSpPr>
          <p:cNvPr id="6" name="Text 4"/>
          <p:cNvSpPr/>
          <p:nvPr/>
        </p:nvSpPr>
        <p:spPr>
          <a:xfrm>
            <a:off x="457200" y="4023360"/>
            <a:ext cx="8229600" cy="274320"/>
          </a:xfrm>
          <a:prstGeom prst="rect">
            <a:avLst/>
          </a:prstGeom>
          <a:noFill/>
          <a:ln/>
        </p:spPr>
        <p:txBody>
          <a:bodyPr wrap="square" rtlCol="0" anchor="ctr"/>
          <a:lstStyle/>
          <a:p>
            <a:pPr algn="ctr" indent="0" marL="0">
              <a:buNone/>
            </a:pPr>
            <a:r>
              <a:rPr lang="en-US" sz="1200" dirty="0">
                <a:solidFill>
                  <a:srgbClr val="FAFAFA"/>
                </a:solidFill>
                <a:latin typeface="Calibri" pitchFamily="34" charset="0"/>
                <a:ea typeface="Calibri" pitchFamily="34" charset="-122"/>
                <a:cs typeface="Calibri" pitchFamily="34" charset="-120"/>
              </a:rPr>
              <a:t>System Analysis and Design  |  Final Project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Presentation Flow</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What we will cover today</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1. Company Background</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2. Business Need &amp; Purpose</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3. System Objectives &amp; Scope</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4. Target Users &amp; Functional Requirements</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5. Key System Features &amp; Workflows</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6. Project Management: Gantt Chart &amp; PERT Chart</a:t>
            </a:r>
            <a:endParaRPr lang="en-US" sz="1400" dirty="0"/>
          </a:p>
        </p:txBody>
      </p:sp>
      <p:sp>
        <p:nvSpPr>
          <p:cNvPr id="11" name="Text 9"/>
          <p:cNvSpPr/>
          <p:nvPr/>
        </p:nvSpPr>
        <p:spPr>
          <a:xfrm>
            <a:off x="640080" y="345643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7. Cost-Benefit Analysis</a:t>
            </a:r>
            <a:endParaRPr lang="en-US" sz="1400" dirty="0"/>
          </a:p>
        </p:txBody>
      </p:sp>
      <p:sp>
        <p:nvSpPr>
          <p:cNvPr id="12" name="Text 10"/>
          <p:cNvSpPr/>
          <p:nvPr/>
        </p:nvSpPr>
        <p:spPr>
          <a:xfrm>
            <a:off x="640080" y="380390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8. GUI Proposal / System Screens</a:t>
            </a:r>
            <a:endParaRPr lang="en-US" sz="1400" dirty="0"/>
          </a:p>
        </p:txBody>
      </p:sp>
      <p:sp>
        <p:nvSpPr>
          <p:cNvPr id="13" name="Text 11"/>
          <p:cNvSpPr/>
          <p:nvPr/>
        </p:nvSpPr>
        <p:spPr>
          <a:xfrm>
            <a:off x="640080" y="415137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9. Summary &amp; Q&amp;A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Company Background</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Cradle Massage &amp; Wellness Spa</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Cradle Massage &amp; Wellness Spa is a wellness service business offering massage and spa-related treatments.</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The spa serves both in-spa customers and home-service clients who prefer treatments at their location.</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Services include therapeutic massage, facial treatments, nail care, and other wellness therapies.</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The business operates across multiple branches and employs therapists, nail technicians, aestheticians, and support staff.</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As the business grows, the need for organized appointment handling, staff coordination, and customer service support becomes essential.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Current Problems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Business Pain Points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Manual appointment handling through calls and messages causes confusion and missed bookings.</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Staff availability is difficult to track across branches and shift schedules.</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Walk-in, online, and home-service bookings are scattered across different channels.</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Managers lack clear visibility into branch operations, staff schedules, and daily bookings.</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Customers need a faster, easier way to browse services and book appointments.</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Front desk staff need a simple, unified system to manage and confirm appointments.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Purpose of the System</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Why CradleHub is needed</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7863840" cy="731520"/>
          </a:xfrm>
          <a:prstGeom prst="rect">
            <a:avLst/>
          </a:prstGeom>
          <a:noFill/>
          <a:ln/>
        </p:spPr>
        <p:txBody>
          <a:bodyPr wrap="square" rtlCol="0" anchor="ctr"/>
          <a:lstStyle/>
          <a:p>
            <a:pPr algn="ctr" indent="0" marL="0">
              <a:buNone/>
            </a:pPr>
            <a:r>
              <a:rPr lang="en-US" sz="2000" i="1" dirty="0">
                <a:solidFill>
                  <a:srgbClr val="163A2B"/>
                </a:solidFill>
                <a:latin typeface="Calibri" pitchFamily="34" charset="0"/>
                <a:ea typeface="Calibri" pitchFamily="34" charset="-122"/>
                <a:cs typeface="Calibri" pitchFamily="34" charset="-120"/>
              </a:rPr>
              <a:t>"To make spa booking, scheduling, and daily operations faster, clearer, and more organized."</a:t>
            </a:r>
            <a:endParaRPr lang="en-US" sz="2000" dirty="0"/>
          </a:p>
        </p:txBody>
      </p:sp>
      <p:sp>
        <p:nvSpPr>
          <p:cNvPr id="6" name="Text 4"/>
          <p:cNvSpPr/>
          <p:nvPr/>
        </p:nvSpPr>
        <p:spPr>
          <a:xfrm>
            <a:off x="640080" y="22860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Create a centralized platform for all booking types: online, walk-in, and home service.</a:t>
            </a:r>
            <a:endParaRPr lang="en-US" sz="1400" dirty="0"/>
          </a:p>
        </p:txBody>
      </p:sp>
      <p:sp>
        <p:nvSpPr>
          <p:cNvPr id="7" name="Text 5"/>
          <p:cNvSpPr/>
          <p:nvPr/>
        </p:nvSpPr>
        <p:spPr>
          <a:xfrm>
            <a:off x="640080" y="26334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Replace manual scheduling with an automated availability engine.</a:t>
            </a:r>
            <a:endParaRPr lang="en-US" sz="1400" dirty="0"/>
          </a:p>
        </p:txBody>
      </p:sp>
      <p:sp>
        <p:nvSpPr>
          <p:cNvPr id="8" name="Text 6"/>
          <p:cNvSpPr/>
          <p:nvPr/>
        </p:nvSpPr>
        <p:spPr>
          <a:xfrm>
            <a:off x="640080" y="29809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Give managers and owners clear visibility into staff, schedules, and branch operations.</a:t>
            </a:r>
            <a:endParaRPr lang="en-US" sz="1400" dirty="0"/>
          </a:p>
        </p:txBody>
      </p:sp>
      <p:sp>
        <p:nvSpPr>
          <p:cNvPr id="9" name="Text 7"/>
          <p:cNvSpPr/>
          <p:nvPr/>
        </p:nvSpPr>
        <p:spPr>
          <a:xfrm>
            <a:off x="640080" y="33284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Provide customers with a professional, easy-to-use online booking experience.</a:t>
            </a:r>
            <a:endParaRPr lang="en-US" sz="1400" dirty="0"/>
          </a:p>
        </p:txBody>
      </p:sp>
      <p:sp>
        <p:nvSpPr>
          <p:cNvPr id="10" name="Text 8"/>
          <p:cNvSpPr/>
          <p:nvPr/>
        </p:nvSpPr>
        <p:spPr>
          <a:xfrm>
            <a:off x="640080" y="36758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Support front desk staff with a simple CRM workspace for daily operations.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System Objectives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Five clear goals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Provide customers with an easy online booking experience — browse services, select branch, pick date and time, and choose a therapist preference.</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Help staff and managers view accurate, real-time appointment schedules and staff availability.</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Reduce manual booking errors and prevent double bookings through automated conflict checking.</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Support walk-in, online, and home-service appointment flows within a single platform.</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Give owners and managers a clearer, data-driven view of branch operations and business performance.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Scope of the System</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Included vs Future Expansion</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4023360" cy="2926080"/>
          </a:xfrm>
          <a:prstGeom prst="rect">
            <a:avLst/>
          </a:prstGeom>
          <a:solidFill>
            <a:srgbClr val="FAFAFA"/>
          </a:solidFill>
          <a:ln w="19050">
            <a:solidFill>
              <a:srgbClr val="C8A96B"/>
            </a:solidFill>
            <a:prstDash val="solid"/>
          </a:ln>
        </p:spPr>
      </p:sp>
      <p:sp>
        <p:nvSpPr>
          <p:cNvPr id="6" name="Text 4"/>
          <p:cNvSpPr/>
          <p:nvPr/>
        </p:nvSpPr>
        <p:spPr>
          <a:xfrm>
            <a:off x="640080" y="1463040"/>
            <a:ext cx="3657600" cy="365760"/>
          </a:xfrm>
          <a:prstGeom prst="rect">
            <a:avLst/>
          </a:prstGeom>
          <a:noFill/>
          <a:ln/>
        </p:spPr>
        <p:txBody>
          <a:bodyPr wrap="square" rtlCol="0" anchor="ctr"/>
          <a:lstStyle/>
          <a:p>
            <a:pPr indent="0" marL="0">
              <a:buNone/>
            </a:pPr>
            <a:r>
              <a:rPr lang="en-US" sz="1800" b="1" dirty="0">
                <a:solidFill>
                  <a:srgbClr val="163A2B"/>
                </a:solidFill>
                <a:latin typeface="Calibri" pitchFamily="34" charset="0"/>
                <a:ea typeface="Calibri" pitchFamily="34" charset="-122"/>
                <a:cs typeface="Calibri" pitchFamily="34" charset="-120"/>
              </a:rPr>
              <a:t>Included</a:t>
            </a:r>
            <a:endParaRPr lang="en-US" sz="1800" dirty="0"/>
          </a:p>
        </p:txBody>
      </p:sp>
      <p:sp>
        <p:nvSpPr>
          <p:cNvPr id="7" name="Text 5"/>
          <p:cNvSpPr/>
          <p:nvPr/>
        </p:nvSpPr>
        <p:spPr>
          <a:xfrm>
            <a:off x="640080" y="1874520"/>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Public booking page</a:t>
            </a:r>
            <a:endParaRPr lang="en-US" sz="1200" dirty="0"/>
          </a:p>
        </p:txBody>
      </p:sp>
      <p:sp>
        <p:nvSpPr>
          <p:cNvPr id="8" name="Text 6"/>
          <p:cNvSpPr/>
          <p:nvPr/>
        </p:nvSpPr>
        <p:spPr>
          <a:xfrm>
            <a:off x="640080" y="2167128"/>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Service listing &amp; branch selection</a:t>
            </a:r>
            <a:endParaRPr lang="en-US" sz="1200" dirty="0"/>
          </a:p>
        </p:txBody>
      </p:sp>
      <p:sp>
        <p:nvSpPr>
          <p:cNvPr id="9" name="Text 7"/>
          <p:cNvSpPr/>
          <p:nvPr/>
        </p:nvSpPr>
        <p:spPr>
          <a:xfrm>
            <a:off x="640080" y="2459736"/>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Customer appointment creation</a:t>
            </a:r>
            <a:endParaRPr lang="en-US" sz="1200" dirty="0"/>
          </a:p>
        </p:txBody>
      </p:sp>
      <p:sp>
        <p:nvSpPr>
          <p:cNvPr id="10" name="Text 8"/>
          <p:cNvSpPr/>
          <p:nvPr/>
        </p:nvSpPr>
        <p:spPr>
          <a:xfrm>
            <a:off x="640080" y="2752344"/>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Staff availability checking</a:t>
            </a:r>
            <a:endParaRPr lang="en-US" sz="1200" dirty="0"/>
          </a:p>
        </p:txBody>
      </p:sp>
      <p:sp>
        <p:nvSpPr>
          <p:cNvPr id="11" name="Text 9"/>
          <p:cNvSpPr/>
          <p:nvPr/>
        </p:nvSpPr>
        <p:spPr>
          <a:xfrm>
            <a:off x="640080" y="3044952"/>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Manager &amp; CSR workspaces</a:t>
            </a:r>
            <a:endParaRPr lang="en-US" sz="1200" dirty="0"/>
          </a:p>
        </p:txBody>
      </p:sp>
      <p:sp>
        <p:nvSpPr>
          <p:cNvPr id="12" name="Text 10"/>
          <p:cNvSpPr/>
          <p:nvPr/>
        </p:nvSpPr>
        <p:spPr>
          <a:xfrm>
            <a:off x="640080" y="3337560"/>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Staff portal &amp; schedules</a:t>
            </a:r>
            <a:endParaRPr lang="en-US" sz="1200" dirty="0"/>
          </a:p>
        </p:txBody>
      </p:sp>
      <p:sp>
        <p:nvSpPr>
          <p:cNvPr id="13" name="Text 11"/>
          <p:cNvSpPr/>
          <p:nvPr/>
        </p:nvSpPr>
        <p:spPr>
          <a:xfrm>
            <a:off x="640080" y="3630168"/>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Booking status tracking</a:t>
            </a:r>
            <a:endParaRPr lang="en-US" sz="1200" dirty="0"/>
          </a:p>
        </p:txBody>
      </p:sp>
      <p:sp>
        <p:nvSpPr>
          <p:cNvPr id="14" name="Text 12"/>
          <p:cNvSpPr/>
          <p:nvPr/>
        </p:nvSpPr>
        <p:spPr>
          <a:xfrm>
            <a:off x="640080" y="3922776"/>
            <a:ext cx="3657600" cy="256032"/>
          </a:xfrm>
          <a:prstGeom prst="rect">
            <a:avLst/>
          </a:prstGeom>
          <a:noFill/>
          <a:ln/>
        </p:spPr>
        <p:txBody>
          <a:bodyPr wrap="square" rtlCol="0" anchor="ctr"/>
          <a:lstStyle/>
          <a:p>
            <a:pPr indent="0" marL="0">
              <a:buNone/>
            </a:pPr>
            <a:r>
              <a:rPr lang="en-US" sz="1200" b="1" dirty="0">
                <a:solidFill>
                  <a:srgbClr val="C8A96B"/>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Basic reports &amp; dashboard</a:t>
            </a:r>
            <a:endParaRPr lang="en-US" sz="1200" dirty="0"/>
          </a:p>
        </p:txBody>
      </p:sp>
      <p:sp>
        <p:nvSpPr>
          <p:cNvPr id="15" name="Shape 13"/>
          <p:cNvSpPr/>
          <p:nvPr/>
        </p:nvSpPr>
        <p:spPr>
          <a:xfrm>
            <a:off x="4663440" y="1371600"/>
            <a:ext cx="4023360" cy="2926080"/>
          </a:xfrm>
          <a:prstGeom prst="rect">
            <a:avLst/>
          </a:prstGeom>
          <a:solidFill>
            <a:srgbClr val="FAFAFA"/>
          </a:solidFill>
          <a:ln w="12700">
            <a:solidFill>
              <a:srgbClr val="6B7A6F"/>
            </a:solidFill>
            <a:prstDash val="solid"/>
          </a:ln>
        </p:spPr>
      </p:sp>
      <p:sp>
        <p:nvSpPr>
          <p:cNvPr id="16" name="Text 14"/>
          <p:cNvSpPr/>
          <p:nvPr/>
        </p:nvSpPr>
        <p:spPr>
          <a:xfrm>
            <a:off x="4846320" y="1463040"/>
            <a:ext cx="3657600" cy="365760"/>
          </a:xfrm>
          <a:prstGeom prst="rect">
            <a:avLst/>
          </a:prstGeom>
          <a:noFill/>
          <a:ln/>
        </p:spPr>
        <p:txBody>
          <a:bodyPr wrap="square" rtlCol="0" anchor="ctr"/>
          <a:lstStyle/>
          <a:p>
            <a:pPr indent="0" marL="0">
              <a:buNone/>
            </a:pPr>
            <a:r>
              <a:rPr lang="en-US" sz="1800" b="1" dirty="0">
                <a:solidFill>
                  <a:srgbClr val="6B7A6F"/>
                </a:solidFill>
                <a:latin typeface="Calibri" pitchFamily="34" charset="0"/>
                <a:ea typeface="Calibri" pitchFamily="34" charset="-122"/>
                <a:cs typeface="Calibri" pitchFamily="34" charset="-120"/>
              </a:rPr>
              <a:t>Future Expansion</a:t>
            </a:r>
            <a:endParaRPr lang="en-US" sz="1800" dirty="0"/>
          </a:p>
        </p:txBody>
      </p:sp>
      <p:sp>
        <p:nvSpPr>
          <p:cNvPr id="17" name="Text 15"/>
          <p:cNvSpPr/>
          <p:nvPr/>
        </p:nvSpPr>
        <p:spPr>
          <a:xfrm>
            <a:off x="4846320" y="1874520"/>
            <a:ext cx="3657600" cy="256032"/>
          </a:xfrm>
          <a:prstGeom prst="rect">
            <a:avLst/>
          </a:prstGeom>
          <a:noFill/>
          <a:ln/>
        </p:spPr>
        <p:txBody>
          <a:bodyPr wrap="square" rtlCol="0" anchor="ctr"/>
          <a:lstStyle/>
          <a:p>
            <a:pPr indent="0" marL="0">
              <a:buNone/>
            </a:pPr>
            <a:r>
              <a:rPr lang="en-US" sz="1200" b="1" dirty="0">
                <a:solidFill>
                  <a:srgbClr val="6B7A6F"/>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Online payment integration</a:t>
            </a:r>
            <a:endParaRPr lang="en-US" sz="1200" dirty="0"/>
          </a:p>
        </p:txBody>
      </p:sp>
      <p:sp>
        <p:nvSpPr>
          <p:cNvPr id="18" name="Text 16"/>
          <p:cNvSpPr/>
          <p:nvPr/>
        </p:nvSpPr>
        <p:spPr>
          <a:xfrm>
            <a:off x="4846320" y="2167128"/>
            <a:ext cx="3657600" cy="256032"/>
          </a:xfrm>
          <a:prstGeom prst="rect">
            <a:avLst/>
          </a:prstGeom>
          <a:noFill/>
          <a:ln/>
        </p:spPr>
        <p:txBody>
          <a:bodyPr wrap="square" rtlCol="0" anchor="ctr"/>
          <a:lstStyle/>
          <a:p>
            <a:pPr indent="0" marL="0">
              <a:buNone/>
            </a:pPr>
            <a:r>
              <a:rPr lang="en-US" sz="1200" b="1" dirty="0">
                <a:solidFill>
                  <a:srgbClr val="6B7A6F"/>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SMS / Messenger / WhatsApp notifications</a:t>
            </a:r>
            <a:endParaRPr lang="en-US" sz="1200" dirty="0"/>
          </a:p>
        </p:txBody>
      </p:sp>
      <p:sp>
        <p:nvSpPr>
          <p:cNvPr id="19" name="Text 17"/>
          <p:cNvSpPr/>
          <p:nvPr/>
        </p:nvSpPr>
        <p:spPr>
          <a:xfrm>
            <a:off x="4846320" y="2459736"/>
            <a:ext cx="3657600" cy="256032"/>
          </a:xfrm>
          <a:prstGeom prst="rect">
            <a:avLst/>
          </a:prstGeom>
          <a:noFill/>
          <a:ln/>
        </p:spPr>
        <p:txBody>
          <a:bodyPr wrap="square" rtlCol="0" anchor="ctr"/>
          <a:lstStyle/>
          <a:p>
            <a:pPr indent="0" marL="0">
              <a:buNone/>
            </a:pPr>
            <a:r>
              <a:rPr lang="en-US" sz="1200" b="1" dirty="0">
                <a:solidFill>
                  <a:srgbClr val="6B7A6F"/>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Advanced analytics &amp; reports</a:t>
            </a:r>
            <a:endParaRPr lang="en-US" sz="1200" dirty="0"/>
          </a:p>
        </p:txBody>
      </p:sp>
      <p:sp>
        <p:nvSpPr>
          <p:cNvPr id="20" name="Text 18"/>
          <p:cNvSpPr/>
          <p:nvPr/>
        </p:nvSpPr>
        <p:spPr>
          <a:xfrm>
            <a:off x="4846320" y="2752344"/>
            <a:ext cx="3657600" cy="256032"/>
          </a:xfrm>
          <a:prstGeom prst="rect">
            <a:avLst/>
          </a:prstGeom>
          <a:noFill/>
          <a:ln/>
        </p:spPr>
        <p:txBody>
          <a:bodyPr wrap="square" rtlCol="0" anchor="ctr"/>
          <a:lstStyle/>
          <a:p>
            <a:pPr indent="0" marL="0">
              <a:buNone/>
            </a:pPr>
            <a:r>
              <a:rPr lang="en-US" sz="1200" b="1" dirty="0">
                <a:solidFill>
                  <a:srgbClr val="6B7A6F"/>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Customer loyalty program</a:t>
            </a:r>
            <a:endParaRPr lang="en-US" sz="1200" dirty="0"/>
          </a:p>
        </p:txBody>
      </p:sp>
      <p:sp>
        <p:nvSpPr>
          <p:cNvPr id="21" name="Text 19"/>
          <p:cNvSpPr/>
          <p:nvPr/>
        </p:nvSpPr>
        <p:spPr>
          <a:xfrm>
            <a:off x="4846320" y="3044952"/>
            <a:ext cx="3657600" cy="256032"/>
          </a:xfrm>
          <a:prstGeom prst="rect">
            <a:avLst/>
          </a:prstGeom>
          <a:noFill/>
          <a:ln/>
        </p:spPr>
        <p:txBody>
          <a:bodyPr wrap="square" rtlCol="0" anchor="ctr"/>
          <a:lstStyle/>
          <a:p>
            <a:pPr indent="0" marL="0">
              <a:buNone/>
            </a:pPr>
            <a:r>
              <a:rPr lang="en-US" sz="1200" b="1" dirty="0">
                <a:solidFill>
                  <a:srgbClr val="6B7A6F"/>
                </a:solidFill>
                <a:latin typeface="Calibri" pitchFamily="34" charset="0"/>
                <a:ea typeface="Calibri" pitchFamily="34" charset="-122"/>
                <a:cs typeface="Calibri" pitchFamily="34" charset="-120"/>
              </a:rPr>
              <a:t>○  </a:t>
            </a:r>
            <a:pPr indent="0" marL="0">
              <a:buNone/>
            </a:pPr>
            <a:r>
              <a:rPr lang="en-US" sz="1200" dirty="0">
                <a:solidFill>
                  <a:srgbClr val="4A4A4A"/>
                </a:solidFill>
                <a:latin typeface="Calibri" pitchFamily="34" charset="0"/>
                <a:ea typeface="Calibri" pitchFamily="34" charset="-122"/>
                <a:cs typeface="Calibri" pitchFamily="34" charset="-120"/>
              </a:rPr>
              <a:t>Native mobile app version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Target Users &amp; Roles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Who will use CradleHub</a:t>
            </a:r>
            <a:endParaRPr lang="en-US" sz="1600" dirty="0"/>
          </a:p>
        </p:txBody>
      </p:sp>
      <p:sp>
        <p:nvSpPr>
          <p:cNvPr id="4" name="Shape 2"/>
          <p:cNvSpPr/>
          <p:nvPr/>
        </p:nvSpPr>
        <p:spPr>
          <a:xfrm>
            <a:off x="457200" y="1115568"/>
            <a:ext cx="1371600" cy="36576"/>
          </a:xfrm>
          <a:prstGeom prst="rect">
            <a:avLst/>
          </a:prstGeom>
          <a:solidFill>
            <a:srgbClr val="C8A96B"/>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2560320"/>
        </p:xfrm>
        <a:graphic>
          <a:graphicData uri="http://schemas.openxmlformats.org/drawingml/2006/table">
            <a:tbl>
              <a:tblPr/>
              <a:tblGrid>
                <a:gridCol w="2286000"/>
                <a:gridCol w="5760720"/>
              </a:tblGrid>
              <a:tr h="426720">
                <a:tc>
                  <a:txBody>
                    <a:bodyPr/>
                    <a:lstStyle/>
                    <a:p>
                      <a:pPr algn="l" indent="0" marL="0">
                        <a:buNone/>
                      </a:pPr>
                      <a:r>
                        <a:rPr lang="en-US" sz="1300" b="1" dirty="0">
                          <a:solidFill>
                            <a:srgbClr val="163A2B"/>
                          </a:solidFill>
                          <a:latin typeface="Calibri" pitchFamily="34" charset="0"/>
                          <a:ea typeface="Calibri" pitchFamily="34" charset="-122"/>
                          <a:cs typeface="Calibri" pitchFamily="34" charset="-120"/>
                        </a:rPr>
                        <a:t>User</a:t>
                      </a:r>
                      <a:endParaRPr lang="en-US" sz="13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300" b="1" dirty="0">
                          <a:solidFill>
                            <a:srgbClr val="163A2B"/>
                          </a:solidFill>
                          <a:latin typeface="Calibri" pitchFamily="34" charset="0"/>
                          <a:ea typeface="Calibri" pitchFamily="34" charset="-122"/>
                          <a:cs typeface="Calibri" pitchFamily="34" charset="-120"/>
                        </a:rPr>
                        <a:t>Role Description</a:t>
                      </a:r>
                      <a:endParaRPr lang="en-US" sz="13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42672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Customer</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Browses services and books appointments online</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42672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CSR / Front Desk</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Creates walk-in bookings and manages daily appointments</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42672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Manager</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Manages staff, schedules, services, and branch operations</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42672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Service Staff</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Views assigned appointments and weekly schedules</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42672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Monitors branches, staff, bookings, and business performance</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Functional Requirements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What the system must do</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can view available services with descriptions, durations, and prices.</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can book an appointment by selecting branch, service, date, time, and therapist preference.</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System checks real-time staff availability and prevents double bookings.</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CSR can create or manage bookings for walk-in customers.</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Manager can manage staff profiles, schedules, services, and branch resources.</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Service staff can view assigned appointments and update booking progress.</a:t>
            </a:r>
            <a:endParaRPr lang="en-US" sz="1400" dirty="0"/>
          </a:p>
        </p:txBody>
      </p:sp>
      <p:sp>
        <p:nvSpPr>
          <p:cNvPr id="11" name="Text 9"/>
          <p:cNvSpPr/>
          <p:nvPr/>
        </p:nvSpPr>
        <p:spPr>
          <a:xfrm>
            <a:off x="640080" y="345643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Owner can view business summaries, branch performance, and booking reports.</a:t>
            </a:r>
            <a:endParaRPr lang="en-US" sz="1400" dirty="0"/>
          </a:p>
        </p:txBody>
      </p:sp>
      <p:sp>
        <p:nvSpPr>
          <p:cNvPr id="12" name="Text 10"/>
          <p:cNvSpPr/>
          <p:nvPr/>
        </p:nvSpPr>
        <p:spPr>
          <a:xfrm>
            <a:off x="640080" y="380390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System tracks booking statuses: pending, confirmed, in-progress, completed, cancelled, no-show.</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Non-Functional Requirements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Quality and performance standards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User-friendly interface with clear navigation and visual feedback.</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Mobile responsive design for booking on phones and tablets.</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Fast loading pages with optimized database queries.</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Secure login with role-based access control for different user types.</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Reliable booking validation to prevent conflicts and data errors.</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Organized database with proper relationships and indexing.</a:t>
            </a:r>
            <a:endParaRPr lang="en-US" sz="1400" dirty="0"/>
          </a:p>
        </p:txBody>
      </p:sp>
      <p:sp>
        <p:nvSpPr>
          <p:cNvPr id="11" name="Text 9"/>
          <p:cNvSpPr/>
          <p:nvPr/>
        </p:nvSpPr>
        <p:spPr>
          <a:xfrm>
            <a:off x="640080" y="345643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Scalable architecture to support multiple branches and growing staff.</a:t>
            </a:r>
            <a:endParaRPr lang="en-US" sz="1400" dirty="0"/>
          </a:p>
        </p:txBody>
      </p:sp>
      <p:sp>
        <p:nvSpPr>
          <p:cNvPr id="12" name="Text 10"/>
          <p:cNvSpPr/>
          <p:nvPr/>
        </p:nvSpPr>
        <p:spPr>
          <a:xfrm>
            <a:off x="640080" y="380390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Clear error messages and helpful validation feedback.</a:t>
            </a:r>
            <a:endParaRPr lang="en-US" sz="1400" dirty="0"/>
          </a:p>
        </p:txBody>
      </p:sp>
      <p:sp>
        <p:nvSpPr>
          <p:cNvPr id="13" name="Text 11"/>
          <p:cNvSpPr/>
          <p:nvPr/>
        </p:nvSpPr>
        <p:spPr>
          <a:xfrm>
            <a:off x="640080" y="415137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Professional visual design aligned with spa branding.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Key System Features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Ten core capabilities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25880"/>
            <a:ext cx="8229600" cy="310896"/>
          </a:xfrm>
          <a:prstGeom prst="rect">
            <a:avLst/>
          </a:prstGeom>
          <a:solidFill>
            <a:srgbClr val="FAFAFA"/>
          </a:solidFill>
          <a:ln w="6350">
            <a:solidFill>
              <a:srgbClr val="F0ECE5"/>
            </a:solidFill>
            <a:prstDash val="solid"/>
          </a:ln>
        </p:spPr>
      </p:sp>
      <p:sp>
        <p:nvSpPr>
          <p:cNvPr id="6" name="Text 4"/>
          <p:cNvSpPr/>
          <p:nvPr/>
        </p:nvSpPr>
        <p:spPr>
          <a:xfrm>
            <a:off x="594360" y="1362456"/>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Public Booking Wizard</a:t>
            </a:r>
            <a:endParaRPr lang="en-US" sz="1200" dirty="0"/>
          </a:p>
        </p:txBody>
      </p:sp>
      <p:sp>
        <p:nvSpPr>
          <p:cNvPr id="7" name="Text 5"/>
          <p:cNvSpPr/>
          <p:nvPr/>
        </p:nvSpPr>
        <p:spPr>
          <a:xfrm>
            <a:off x="3108960" y="1362456"/>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Online service selection, branch pick, date/time slots, therapist choice</a:t>
            </a:r>
            <a:endParaRPr lang="en-US" sz="1200" dirty="0"/>
          </a:p>
        </p:txBody>
      </p:sp>
      <p:sp>
        <p:nvSpPr>
          <p:cNvPr id="8" name="Shape 6"/>
          <p:cNvSpPr/>
          <p:nvPr/>
        </p:nvSpPr>
        <p:spPr>
          <a:xfrm>
            <a:off x="457200" y="1673352"/>
            <a:ext cx="8229600" cy="310896"/>
          </a:xfrm>
          <a:prstGeom prst="rect">
            <a:avLst/>
          </a:prstGeom>
          <a:solidFill>
            <a:srgbClr val="FAFAFA"/>
          </a:solidFill>
          <a:ln w="6350">
            <a:solidFill>
              <a:srgbClr val="F0ECE5"/>
            </a:solidFill>
            <a:prstDash val="solid"/>
          </a:ln>
        </p:spPr>
      </p:sp>
      <p:sp>
        <p:nvSpPr>
          <p:cNvPr id="9" name="Text 7"/>
          <p:cNvSpPr/>
          <p:nvPr/>
        </p:nvSpPr>
        <p:spPr>
          <a:xfrm>
            <a:off x="594360" y="1709928"/>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Service Management</a:t>
            </a:r>
            <a:endParaRPr lang="en-US" sz="1200" dirty="0"/>
          </a:p>
        </p:txBody>
      </p:sp>
      <p:sp>
        <p:nvSpPr>
          <p:cNvPr id="10" name="Text 8"/>
          <p:cNvSpPr/>
          <p:nvPr/>
        </p:nvSpPr>
        <p:spPr>
          <a:xfrm>
            <a:off x="3108960" y="1709928"/>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Add, edit, categorize, and price spa services</a:t>
            </a:r>
            <a:endParaRPr lang="en-US" sz="1200" dirty="0"/>
          </a:p>
        </p:txBody>
      </p:sp>
      <p:sp>
        <p:nvSpPr>
          <p:cNvPr id="11" name="Shape 9"/>
          <p:cNvSpPr/>
          <p:nvPr/>
        </p:nvSpPr>
        <p:spPr>
          <a:xfrm>
            <a:off x="457200" y="2020824"/>
            <a:ext cx="8229600" cy="310896"/>
          </a:xfrm>
          <a:prstGeom prst="rect">
            <a:avLst/>
          </a:prstGeom>
          <a:solidFill>
            <a:srgbClr val="FAFAFA"/>
          </a:solidFill>
          <a:ln w="6350">
            <a:solidFill>
              <a:srgbClr val="F0ECE5"/>
            </a:solidFill>
            <a:prstDash val="solid"/>
          </a:ln>
        </p:spPr>
      </p:sp>
      <p:sp>
        <p:nvSpPr>
          <p:cNvPr id="12" name="Text 10"/>
          <p:cNvSpPr/>
          <p:nvPr/>
        </p:nvSpPr>
        <p:spPr>
          <a:xfrm>
            <a:off x="594360" y="2057400"/>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Branch Management</a:t>
            </a:r>
            <a:endParaRPr lang="en-US" sz="1200" dirty="0"/>
          </a:p>
        </p:txBody>
      </p:sp>
      <p:sp>
        <p:nvSpPr>
          <p:cNvPr id="13" name="Text 11"/>
          <p:cNvSpPr/>
          <p:nvPr/>
        </p:nvSpPr>
        <p:spPr>
          <a:xfrm>
            <a:off x="3108960" y="2057400"/>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Configure branches, resources, and booking rules</a:t>
            </a:r>
            <a:endParaRPr lang="en-US" sz="1200" dirty="0"/>
          </a:p>
        </p:txBody>
      </p:sp>
      <p:sp>
        <p:nvSpPr>
          <p:cNvPr id="14" name="Shape 12"/>
          <p:cNvSpPr/>
          <p:nvPr/>
        </p:nvSpPr>
        <p:spPr>
          <a:xfrm>
            <a:off x="457200" y="2368296"/>
            <a:ext cx="8229600" cy="310896"/>
          </a:xfrm>
          <a:prstGeom prst="rect">
            <a:avLst/>
          </a:prstGeom>
          <a:solidFill>
            <a:srgbClr val="FAFAFA"/>
          </a:solidFill>
          <a:ln w="6350">
            <a:solidFill>
              <a:srgbClr val="F0ECE5"/>
            </a:solidFill>
            <a:prstDash val="solid"/>
          </a:ln>
        </p:spPr>
      </p:sp>
      <p:sp>
        <p:nvSpPr>
          <p:cNvPr id="15" name="Text 13"/>
          <p:cNvSpPr/>
          <p:nvPr/>
        </p:nvSpPr>
        <p:spPr>
          <a:xfrm>
            <a:off x="594360" y="2404872"/>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Staff Scheduling</a:t>
            </a:r>
            <a:endParaRPr lang="en-US" sz="1200" dirty="0"/>
          </a:p>
        </p:txBody>
      </p:sp>
      <p:sp>
        <p:nvSpPr>
          <p:cNvPr id="16" name="Text 14"/>
          <p:cNvSpPr/>
          <p:nvPr/>
        </p:nvSpPr>
        <p:spPr>
          <a:xfrm>
            <a:off x="3108960" y="2404872"/>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Set weekly schedules, day overrides, and blocked times</a:t>
            </a:r>
            <a:endParaRPr lang="en-US" sz="1200" dirty="0"/>
          </a:p>
        </p:txBody>
      </p:sp>
      <p:sp>
        <p:nvSpPr>
          <p:cNvPr id="17" name="Shape 15"/>
          <p:cNvSpPr/>
          <p:nvPr/>
        </p:nvSpPr>
        <p:spPr>
          <a:xfrm>
            <a:off x="457200" y="2715768"/>
            <a:ext cx="8229600" cy="310896"/>
          </a:xfrm>
          <a:prstGeom prst="rect">
            <a:avLst/>
          </a:prstGeom>
          <a:solidFill>
            <a:srgbClr val="FAFAFA"/>
          </a:solidFill>
          <a:ln w="6350">
            <a:solidFill>
              <a:srgbClr val="F0ECE5"/>
            </a:solidFill>
            <a:prstDash val="solid"/>
          </a:ln>
        </p:spPr>
      </p:sp>
      <p:sp>
        <p:nvSpPr>
          <p:cNvPr id="18" name="Text 16"/>
          <p:cNvSpPr/>
          <p:nvPr/>
        </p:nvSpPr>
        <p:spPr>
          <a:xfrm>
            <a:off x="594360" y="2752344"/>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Availability Engine</a:t>
            </a:r>
            <a:endParaRPr lang="en-US" sz="1200" dirty="0"/>
          </a:p>
        </p:txBody>
      </p:sp>
      <p:sp>
        <p:nvSpPr>
          <p:cNvPr id="19" name="Text 17"/>
          <p:cNvSpPr/>
          <p:nvPr/>
        </p:nvSpPr>
        <p:spPr>
          <a:xfrm>
            <a:off x="3108960" y="2752344"/>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Real-time slot checking with conflict prevention</a:t>
            </a:r>
            <a:endParaRPr lang="en-US" sz="1200" dirty="0"/>
          </a:p>
        </p:txBody>
      </p:sp>
      <p:sp>
        <p:nvSpPr>
          <p:cNvPr id="20" name="Shape 18"/>
          <p:cNvSpPr/>
          <p:nvPr/>
        </p:nvSpPr>
        <p:spPr>
          <a:xfrm>
            <a:off x="457200" y="3063240"/>
            <a:ext cx="8229600" cy="310896"/>
          </a:xfrm>
          <a:prstGeom prst="rect">
            <a:avLst/>
          </a:prstGeom>
          <a:solidFill>
            <a:srgbClr val="FAFAFA"/>
          </a:solidFill>
          <a:ln w="6350">
            <a:solidFill>
              <a:srgbClr val="F0ECE5"/>
            </a:solidFill>
            <a:prstDash val="solid"/>
          </a:ln>
        </p:spPr>
      </p:sp>
      <p:sp>
        <p:nvSpPr>
          <p:cNvPr id="21" name="Text 19"/>
          <p:cNvSpPr/>
          <p:nvPr/>
        </p:nvSpPr>
        <p:spPr>
          <a:xfrm>
            <a:off x="594360" y="3099816"/>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CRM / Front Desk</a:t>
            </a:r>
            <a:endParaRPr lang="en-US" sz="1200" dirty="0"/>
          </a:p>
        </p:txBody>
      </p:sp>
      <p:sp>
        <p:nvSpPr>
          <p:cNvPr id="22" name="Text 20"/>
          <p:cNvSpPr/>
          <p:nvPr/>
        </p:nvSpPr>
        <p:spPr>
          <a:xfrm>
            <a:off x="3108960" y="3099816"/>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Walk-in booking, customer lookup, status updates</a:t>
            </a:r>
            <a:endParaRPr lang="en-US" sz="1200" dirty="0"/>
          </a:p>
        </p:txBody>
      </p:sp>
      <p:sp>
        <p:nvSpPr>
          <p:cNvPr id="23" name="Shape 21"/>
          <p:cNvSpPr/>
          <p:nvPr/>
        </p:nvSpPr>
        <p:spPr>
          <a:xfrm>
            <a:off x="457200" y="3410712"/>
            <a:ext cx="8229600" cy="310896"/>
          </a:xfrm>
          <a:prstGeom prst="rect">
            <a:avLst/>
          </a:prstGeom>
          <a:solidFill>
            <a:srgbClr val="FAFAFA"/>
          </a:solidFill>
          <a:ln w="6350">
            <a:solidFill>
              <a:srgbClr val="F0ECE5"/>
            </a:solidFill>
            <a:prstDash val="solid"/>
          </a:ln>
        </p:spPr>
      </p:sp>
      <p:sp>
        <p:nvSpPr>
          <p:cNvPr id="24" name="Text 22"/>
          <p:cNvSpPr/>
          <p:nvPr/>
        </p:nvSpPr>
        <p:spPr>
          <a:xfrm>
            <a:off x="594360" y="3447288"/>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Manager Workspace</a:t>
            </a:r>
            <a:endParaRPr lang="en-US" sz="1200" dirty="0"/>
          </a:p>
        </p:txBody>
      </p:sp>
      <p:sp>
        <p:nvSpPr>
          <p:cNvPr id="25" name="Text 23"/>
          <p:cNvSpPr/>
          <p:nvPr/>
        </p:nvSpPr>
        <p:spPr>
          <a:xfrm>
            <a:off x="3108960" y="3447288"/>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Dashboard, staff mgmt, schedules, bookings, reports</a:t>
            </a:r>
            <a:endParaRPr lang="en-US" sz="1200" dirty="0"/>
          </a:p>
        </p:txBody>
      </p:sp>
      <p:sp>
        <p:nvSpPr>
          <p:cNvPr id="26" name="Shape 24"/>
          <p:cNvSpPr/>
          <p:nvPr/>
        </p:nvSpPr>
        <p:spPr>
          <a:xfrm>
            <a:off x="457200" y="3758184"/>
            <a:ext cx="8229600" cy="310896"/>
          </a:xfrm>
          <a:prstGeom prst="rect">
            <a:avLst/>
          </a:prstGeom>
          <a:solidFill>
            <a:srgbClr val="FAFAFA"/>
          </a:solidFill>
          <a:ln w="6350">
            <a:solidFill>
              <a:srgbClr val="F0ECE5"/>
            </a:solidFill>
            <a:prstDash val="solid"/>
          </a:ln>
        </p:spPr>
      </p:sp>
      <p:sp>
        <p:nvSpPr>
          <p:cNvPr id="27" name="Text 25"/>
          <p:cNvSpPr/>
          <p:nvPr/>
        </p:nvSpPr>
        <p:spPr>
          <a:xfrm>
            <a:off x="594360" y="3794760"/>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Staff Portal</a:t>
            </a:r>
            <a:endParaRPr lang="en-US" sz="1200" dirty="0"/>
          </a:p>
        </p:txBody>
      </p:sp>
      <p:sp>
        <p:nvSpPr>
          <p:cNvPr id="28" name="Text 26"/>
          <p:cNvSpPr/>
          <p:nvPr/>
        </p:nvSpPr>
        <p:spPr>
          <a:xfrm>
            <a:off x="3108960" y="3794760"/>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My appointments, today’s schedule, weekly view</a:t>
            </a:r>
            <a:endParaRPr lang="en-US" sz="1200" dirty="0"/>
          </a:p>
        </p:txBody>
      </p:sp>
      <p:sp>
        <p:nvSpPr>
          <p:cNvPr id="29" name="Shape 27"/>
          <p:cNvSpPr/>
          <p:nvPr/>
        </p:nvSpPr>
        <p:spPr>
          <a:xfrm>
            <a:off x="457200" y="4105656"/>
            <a:ext cx="8229600" cy="310896"/>
          </a:xfrm>
          <a:prstGeom prst="rect">
            <a:avLst/>
          </a:prstGeom>
          <a:solidFill>
            <a:srgbClr val="FAFAFA"/>
          </a:solidFill>
          <a:ln w="6350">
            <a:solidFill>
              <a:srgbClr val="F0ECE5"/>
            </a:solidFill>
            <a:prstDash val="solid"/>
          </a:ln>
        </p:spPr>
      </p:sp>
      <p:sp>
        <p:nvSpPr>
          <p:cNvPr id="30" name="Text 28"/>
          <p:cNvSpPr/>
          <p:nvPr/>
        </p:nvSpPr>
        <p:spPr>
          <a:xfrm>
            <a:off x="594360" y="4142232"/>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Booking Tracking</a:t>
            </a:r>
            <a:endParaRPr lang="en-US" sz="1200" dirty="0"/>
          </a:p>
        </p:txBody>
      </p:sp>
      <p:sp>
        <p:nvSpPr>
          <p:cNvPr id="31" name="Text 29"/>
          <p:cNvSpPr/>
          <p:nvPr/>
        </p:nvSpPr>
        <p:spPr>
          <a:xfrm>
            <a:off x="3108960" y="4142232"/>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Statuses: pending, confirmed, in-progress, completed, cancelled, no-show</a:t>
            </a:r>
            <a:endParaRPr lang="en-US" sz="1200" dirty="0"/>
          </a:p>
        </p:txBody>
      </p:sp>
      <p:sp>
        <p:nvSpPr>
          <p:cNvPr id="32" name="Shape 30"/>
          <p:cNvSpPr/>
          <p:nvPr/>
        </p:nvSpPr>
        <p:spPr>
          <a:xfrm>
            <a:off x="457200" y="4453128"/>
            <a:ext cx="8229600" cy="310896"/>
          </a:xfrm>
          <a:prstGeom prst="rect">
            <a:avLst/>
          </a:prstGeom>
          <a:solidFill>
            <a:srgbClr val="FAFAFA"/>
          </a:solidFill>
          <a:ln w="6350">
            <a:solidFill>
              <a:srgbClr val="F0ECE5"/>
            </a:solidFill>
            <a:prstDash val="solid"/>
          </a:ln>
        </p:spPr>
      </p:sp>
      <p:sp>
        <p:nvSpPr>
          <p:cNvPr id="33" name="Text 31"/>
          <p:cNvSpPr/>
          <p:nvPr/>
        </p:nvSpPr>
        <p:spPr>
          <a:xfrm>
            <a:off x="594360" y="4489704"/>
            <a:ext cx="2377440" cy="237744"/>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Dashboard &amp; Reports</a:t>
            </a:r>
            <a:endParaRPr lang="en-US" sz="1200" dirty="0"/>
          </a:p>
        </p:txBody>
      </p:sp>
      <p:sp>
        <p:nvSpPr>
          <p:cNvPr id="34" name="Text 32"/>
          <p:cNvSpPr/>
          <p:nvPr/>
        </p:nvSpPr>
        <p:spPr>
          <a:xfrm>
            <a:off x="3108960" y="4489704"/>
            <a:ext cx="5394960" cy="237744"/>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Daily summaries, payment tracking, branch stats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Booking Workflow</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How a customer books an appointment</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selects a service from the spa menu</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chooses a branch location</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picks a preferred date and available time slot</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selects a specific therapist or chooses 'Any Available Therapist'</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enters contact details and submits the booking</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System checks real-time staff availability and blocks conflicting slots</a:t>
            </a:r>
            <a:endParaRPr lang="en-US" sz="1400" dirty="0"/>
          </a:p>
        </p:txBody>
      </p:sp>
      <p:sp>
        <p:nvSpPr>
          <p:cNvPr id="11" name="Text 9"/>
          <p:cNvSpPr/>
          <p:nvPr/>
        </p:nvSpPr>
        <p:spPr>
          <a:xfrm>
            <a:off x="640080" y="345643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Booking is created with status 'pending' or 'confirmed'</a:t>
            </a:r>
            <a:endParaRPr lang="en-US" sz="1400" dirty="0"/>
          </a:p>
        </p:txBody>
      </p:sp>
      <p:sp>
        <p:nvSpPr>
          <p:cNvPr id="12" name="Text 10"/>
          <p:cNvSpPr/>
          <p:nvPr/>
        </p:nvSpPr>
        <p:spPr>
          <a:xfrm>
            <a:off x="640080" y="380390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Staff and manager can view the appointment in their schedules</a:t>
            </a:r>
            <a:endParaRPr lang="en-US" sz="1400" dirty="0"/>
          </a:p>
        </p:txBody>
      </p:sp>
      <p:sp>
        <p:nvSpPr>
          <p:cNvPr id="13" name="Text 11"/>
          <p:cNvSpPr/>
          <p:nvPr/>
        </p:nvSpPr>
        <p:spPr>
          <a:xfrm>
            <a:off x="640080" y="4297680"/>
            <a:ext cx="7863840" cy="365760"/>
          </a:xfrm>
          <a:prstGeom prst="rect">
            <a:avLst/>
          </a:prstGeom>
          <a:noFill/>
          <a:ln/>
        </p:spPr>
        <p:txBody>
          <a:bodyPr wrap="square" rtlCol="0" anchor="ctr"/>
          <a:lstStyle/>
          <a:p>
            <a:pPr algn="ctr" indent="0" marL="0">
              <a:buNone/>
            </a:pPr>
            <a:r>
              <a:rPr lang="en-US" sz="1300" i="1" dirty="0">
                <a:solidFill>
                  <a:srgbClr val="163A2B"/>
                </a:solidFill>
                <a:latin typeface="Calibri" pitchFamily="34" charset="0"/>
                <a:ea typeface="Calibri" pitchFamily="34" charset="-122"/>
                <a:cs typeface="Calibri" pitchFamily="34" charset="-120"/>
              </a:rPr>
              <a:t>The system is designed to reduce double bookings and organize appointments automatically.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Staff &amp; Schedule Workflow</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How schedules drive availability</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Manager sets each staff member's weekly schedule and working hours</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System stores recurring schedules and any day-specific overrides</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Booking engine queries staff availability for the selected date and service</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Only staff with valid schedules and no conflicts appear as available</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Appointment is assigned to the selected or auto-assigned therapist</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Staff views the assigned booking in their portal schedule</a:t>
            </a:r>
            <a:endParaRPr lang="en-US" sz="1400" dirty="0"/>
          </a:p>
        </p:txBody>
      </p:sp>
      <p:sp>
        <p:nvSpPr>
          <p:cNvPr id="11" name="Text 9"/>
          <p:cNvSpPr/>
          <p:nvPr/>
        </p:nvSpPr>
        <p:spPr>
          <a:xfrm>
            <a:off x="640080" y="4114800"/>
            <a:ext cx="7863840" cy="365760"/>
          </a:xfrm>
          <a:prstGeom prst="rect">
            <a:avLst/>
          </a:prstGeom>
          <a:noFill/>
          <a:ln/>
        </p:spPr>
        <p:txBody>
          <a:bodyPr wrap="square" rtlCol="0" anchor="ctr"/>
          <a:lstStyle/>
          <a:p>
            <a:pPr algn="ctr" indent="0" marL="0">
              <a:buNone/>
            </a:pPr>
            <a:r>
              <a:rPr lang="en-US" sz="1300" i="1" dirty="0">
                <a:solidFill>
                  <a:srgbClr val="163A2B"/>
                </a:solidFill>
                <a:latin typeface="Calibri" pitchFamily="34" charset="0"/>
                <a:ea typeface="Calibri" pitchFamily="34" charset="-122"/>
                <a:cs typeface="Calibri" pitchFamily="34" charset="-120"/>
              </a:rPr>
              <a:t>Staff schedules are the foundation of accurate availability.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Project Management: Gantt Chart</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Development timeline across 8 weeks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25880"/>
            <a:ext cx="3474720" cy="320040"/>
          </a:xfrm>
          <a:prstGeom prst="rect">
            <a:avLst/>
          </a:prstGeom>
          <a:solidFill>
            <a:srgbClr val="163A2B"/>
          </a:solidFill>
          <a:ln/>
        </p:spPr>
      </p:sp>
      <p:sp>
        <p:nvSpPr>
          <p:cNvPr id="6" name="Text 4"/>
          <p:cNvSpPr/>
          <p:nvPr/>
        </p:nvSpPr>
        <p:spPr>
          <a:xfrm>
            <a:off x="502920" y="1353312"/>
            <a:ext cx="3383280" cy="274320"/>
          </a:xfrm>
          <a:prstGeom prst="rect">
            <a:avLst/>
          </a:prstGeom>
          <a:noFill/>
          <a:ln/>
        </p:spPr>
        <p:txBody>
          <a:bodyPr wrap="square"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Task</a:t>
            </a:r>
            <a:endParaRPr lang="en-US" sz="1100" dirty="0"/>
          </a:p>
        </p:txBody>
      </p:sp>
      <p:sp>
        <p:nvSpPr>
          <p:cNvPr id="7" name="Shape 5"/>
          <p:cNvSpPr/>
          <p:nvPr/>
        </p:nvSpPr>
        <p:spPr>
          <a:xfrm>
            <a:off x="4023360" y="1325880"/>
            <a:ext cx="576072" cy="320040"/>
          </a:xfrm>
          <a:prstGeom prst="rect">
            <a:avLst/>
          </a:prstGeom>
          <a:solidFill>
            <a:srgbClr val="163A2B"/>
          </a:solidFill>
          <a:ln/>
        </p:spPr>
      </p:sp>
      <p:sp>
        <p:nvSpPr>
          <p:cNvPr id="8" name="Text 6"/>
          <p:cNvSpPr/>
          <p:nvPr/>
        </p:nvSpPr>
        <p:spPr>
          <a:xfrm>
            <a:off x="402336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W1</a:t>
            </a:r>
            <a:endParaRPr lang="en-US" sz="1000" dirty="0"/>
          </a:p>
        </p:txBody>
      </p:sp>
      <p:sp>
        <p:nvSpPr>
          <p:cNvPr id="9" name="Shape 7"/>
          <p:cNvSpPr/>
          <p:nvPr/>
        </p:nvSpPr>
        <p:spPr>
          <a:xfrm>
            <a:off x="4617720" y="1325880"/>
            <a:ext cx="576072" cy="320040"/>
          </a:xfrm>
          <a:prstGeom prst="rect">
            <a:avLst/>
          </a:prstGeom>
          <a:solidFill>
            <a:srgbClr val="163A2B"/>
          </a:solidFill>
          <a:ln/>
        </p:spPr>
      </p:sp>
      <p:sp>
        <p:nvSpPr>
          <p:cNvPr id="10" name="Text 8"/>
          <p:cNvSpPr/>
          <p:nvPr/>
        </p:nvSpPr>
        <p:spPr>
          <a:xfrm>
            <a:off x="461772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W2</a:t>
            </a:r>
            <a:endParaRPr lang="en-US" sz="1000" dirty="0"/>
          </a:p>
        </p:txBody>
      </p:sp>
      <p:sp>
        <p:nvSpPr>
          <p:cNvPr id="11" name="Shape 9"/>
          <p:cNvSpPr/>
          <p:nvPr/>
        </p:nvSpPr>
        <p:spPr>
          <a:xfrm>
            <a:off x="5212080" y="1325880"/>
            <a:ext cx="576072" cy="320040"/>
          </a:xfrm>
          <a:prstGeom prst="rect">
            <a:avLst/>
          </a:prstGeom>
          <a:solidFill>
            <a:srgbClr val="163A2B"/>
          </a:solidFill>
          <a:ln/>
        </p:spPr>
      </p:sp>
      <p:sp>
        <p:nvSpPr>
          <p:cNvPr id="12" name="Text 10"/>
          <p:cNvSpPr/>
          <p:nvPr/>
        </p:nvSpPr>
        <p:spPr>
          <a:xfrm>
            <a:off x="521208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W3</a:t>
            </a:r>
            <a:endParaRPr lang="en-US" sz="1000" dirty="0"/>
          </a:p>
        </p:txBody>
      </p:sp>
      <p:sp>
        <p:nvSpPr>
          <p:cNvPr id="13" name="Shape 11"/>
          <p:cNvSpPr/>
          <p:nvPr/>
        </p:nvSpPr>
        <p:spPr>
          <a:xfrm>
            <a:off x="5806440" y="1325880"/>
            <a:ext cx="576072" cy="320040"/>
          </a:xfrm>
          <a:prstGeom prst="rect">
            <a:avLst/>
          </a:prstGeom>
          <a:solidFill>
            <a:srgbClr val="163A2B"/>
          </a:solidFill>
          <a:ln/>
        </p:spPr>
      </p:sp>
      <p:sp>
        <p:nvSpPr>
          <p:cNvPr id="14" name="Text 12"/>
          <p:cNvSpPr/>
          <p:nvPr/>
        </p:nvSpPr>
        <p:spPr>
          <a:xfrm>
            <a:off x="580644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W4</a:t>
            </a:r>
            <a:endParaRPr lang="en-US" sz="1000" dirty="0"/>
          </a:p>
        </p:txBody>
      </p:sp>
      <p:sp>
        <p:nvSpPr>
          <p:cNvPr id="15" name="Shape 13"/>
          <p:cNvSpPr/>
          <p:nvPr/>
        </p:nvSpPr>
        <p:spPr>
          <a:xfrm>
            <a:off x="6400800" y="1325880"/>
            <a:ext cx="576072" cy="320040"/>
          </a:xfrm>
          <a:prstGeom prst="rect">
            <a:avLst/>
          </a:prstGeom>
          <a:solidFill>
            <a:srgbClr val="163A2B"/>
          </a:solidFill>
          <a:ln/>
        </p:spPr>
      </p:sp>
      <p:sp>
        <p:nvSpPr>
          <p:cNvPr id="16" name="Text 14"/>
          <p:cNvSpPr/>
          <p:nvPr/>
        </p:nvSpPr>
        <p:spPr>
          <a:xfrm>
            <a:off x="640080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W5</a:t>
            </a:r>
            <a:endParaRPr lang="en-US" sz="1000" dirty="0"/>
          </a:p>
        </p:txBody>
      </p:sp>
      <p:sp>
        <p:nvSpPr>
          <p:cNvPr id="17" name="Shape 15"/>
          <p:cNvSpPr/>
          <p:nvPr/>
        </p:nvSpPr>
        <p:spPr>
          <a:xfrm>
            <a:off x="6995160" y="1325880"/>
            <a:ext cx="576072" cy="320040"/>
          </a:xfrm>
          <a:prstGeom prst="rect">
            <a:avLst/>
          </a:prstGeom>
          <a:solidFill>
            <a:srgbClr val="163A2B"/>
          </a:solidFill>
          <a:ln/>
        </p:spPr>
      </p:sp>
      <p:sp>
        <p:nvSpPr>
          <p:cNvPr id="18" name="Text 16"/>
          <p:cNvSpPr/>
          <p:nvPr/>
        </p:nvSpPr>
        <p:spPr>
          <a:xfrm>
            <a:off x="699516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W6</a:t>
            </a:r>
            <a:endParaRPr lang="en-US" sz="1000" dirty="0"/>
          </a:p>
        </p:txBody>
      </p:sp>
      <p:sp>
        <p:nvSpPr>
          <p:cNvPr id="19" name="Shape 17"/>
          <p:cNvSpPr/>
          <p:nvPr/>
        </p:nvSpPr>
        <p:spPr>
          <a:xfrm>
            <a:off x="7589520" y="1325880"/>
            <a:ext cx="576072" cy="320040"/>
          </a:xfrm>
          <a:prstGeom prst="rect">
            <a:avLst/>
          </a:prstGeom>
          <a:solidFill>
            <a:srgbClr val="163A2B"/>
          </a:solidFill>
          <a:ln/>
        </p:spPr>
      </p:sp>
      <p:sp>
        <p:nvSpPr>
          <p:cNvPr id="20" name="Text 18"/>
          <p:cNvSpPr/>
          <p:nvPr/>
        </p:nvSpPr>
        <p:spPr>
          <a:xfrm>
            <a:off x="758952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W7</a:t>
            </a:r>
            <a:endParaRPr lang="en-US" sz="1000" dirty="0"/>
          </a:p>
        </p:txBody>
      </p:sp>
      <p:sp>
        <p:nvSpPr>
          <p:cNvPr id="21" name="Shape 19"/>
          <p:cNvSpPr/>
          <p:nvPr/>
        </p:nvSpPr>
        <p:spPr>
          <a:xfrm>
            <a:off x="8183880" y="1325880"/>
            <a:ext cx="576072" cy="320040"/>
          </a:xfrm>
          <a:prstGeom prst="rect">
            <a:avLst/>
          </a:prstGeom>
          <a:solidFill>
            <a:srgbClr val="163A2B"/>
          </a:solidFill>
          <a:ln/>
        </p:spPr>
      </p:sp>
      <p:sp>
        <p:nvSpPr>
          <p:cNvPr id="22" name="Text 20"/>
          <p:cNvSpPr/>
          <p:nvPr/>
        </p:nvSpPr>
        <p:spPr>
          <a:xfrm>
            <a:off x="8183880" y="1353312"/>
            <a:ext cx="576072" cy="274320"/>
          </a:xfrm>
          <a:prstGeom prst="rect">
            <a:avLst/>
          </a:prstGeom>
          <a:noFill/>
          <a:ln/>
        </p:spPr>
        <p:txBody>
          <a:bodyPr wrap="square" rtlCol="0" anchor="ctr"/>
          <a:lstStyle/>
          <a:p>
            <a:pPr algn="ctr" indent="0" marL="0">
              <a:buNone/>
            </a:pPr>
            <a:r>
              <a:rPr lang="en-US" sz="1000" b="1" dirty="0">
                <a:solidFill>
                  <a:srgbClr val="FAFAFA"/>
                </a:solidFill>
                <a:latin typeface="Calibri" pitchFamily="34" charset="0"/>
                <a:ea typeface="Calibri" pitchFamily="34" charset="-122"/>
                <a:cs typeface="Calibri" pitchFamily="34" charset="-120"/>
              </a:rPr>
              <a:t>W8</a:t>
            </a:r>
            <a:endParaRPr lang="en-US" sz="1000" dirty="0"/>
          </a:p>
        </p:txBody>
      </p:sp>
      <p:sp>
        <p:nvSpPr>
          <p:cNvPr id="23" name="Shape 21"/>
          <p:cNvSpPr/>
          <p:nvPr/>
        </p:nvSpPr>
        <p:spPr>
          <a:xfrm>
            <a:off x="457200" y="1691640"/>
            <a:ext cx="3474720" cy="292608"/>
          </a:xfrm>
          <a:prstGeom prst="rect">
            <a:avLst/>
          </a:prstGeom>
          <a:solidFill>
            <a:srgbClr val="FAFAFA"/>
          </a:solidFill>
          <a:ln w="6350">
            <a:solidFill>
              <a:srgbClr val="F0ECE5"/>
            </a:solidFill>
            <a:prstDash val="solid"/>
          </a:ln>
        </p:spPr>
      </p:sp>
      <p:sp>
        <p:nvSpPr>
          <p:cNvPr id="24" name="Text 22"/>
          <p:cNvSpPr/>
          <p:nvPr/>
        </p:nvSpPr>
        <p:spPr>
          <a:xfrm>
            <a:off x="502920" y="171907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Requirement Gathering &amp; Company Background</a:t>
            </a:r>
            <a:endParaRPr lang="en-US" sz="1000" dirty="0"/>
          </a:p>
        </p:txBody>
      </p:sp>
      <p:sp>
        <p:nvSpPr>
          <p:cNvPr id="25" name="Shape 23"/>
          <p:cNvSpPr/>
          <p:nvPr/>
        </p:nvSpPr>
        <p:spPr>
          <a:xfrm>
            <a:off x="4023360" y="1691640"/>
            <a:ext cx="576072" cy="292608"/>
          </a:xfrm>
          <a:prstGeom prst="rect">
            <a:avLst/>
          </a:prstGeom>
          <a:solidFill>
            <a:srgbClr val="163A2B"/>
          </a:solidFill>
          <a:ln w="6350">
            <a:solidFill>
              <a:srgbClr val="F0ECE5"/>
            </a:solidFill>
            <a:prstDash val="solid"/>
          </a:ln>
        </p:spPr>
      </p:sp>
      <p:sp>
        <p:nvSpPr>
          <p:cNvPr id="26" name="Shape 24"/>
          <p:cNvSpPr/>
          <p:nvPr/>
        </p:nvSpPr>
        <p:spPr>
          <a:xfrm>
            <a:off x="4617720" y="1691640"/>
            <a:ext cx="576072" cy="292608"/>
          </a:xfrm>
          <a:prstGeom prst="rect">
            <a:avLst/>
          </a:prstGeom>
          <a:solidFill>
            <a:srgbClr val="FAFAFA"/>
          </a:solidFill>
          <a:ln w="6350">
            <a:solidFill>
              <a:srgbClr val="F0ECE5"/>
            </a:solidFill>
            <a:prstDash val="solid"/>
          </a:ln>
        </p:spPr>
      </p:sp>
      <p:sp>
        <p:nvSpPr>
          <p:cNvPr id="27" name="Shape 25"/>
          <p:cNvSpPr/>
          <p:nvPr/>
        </p:nvSpPr>
        <p:spPr>
          <a:xfrm>
            <a:off x="5212080" y="1691640"/>
            <a:ext cx="576072" cy="292608"/>
          </a:xfrm>
          <a:prstGeom prst="rect">
            <a:avLst/>
          </a:prstGeom>
          <a:solidFill>
            <a:srgbClr val="FAFAFA"/>
          </a:solidFill>
          <a:ln w="6350">
            <a:solidFill>
              <a:srgbClr val="F0ECE5"/>
            </a:solidFill>
            <a:prstDash val="solid"/>
          </a:ln>
        </p:spPr>
      </p:sp>
      <p:sp>
        <p:nvSpPr>
          <p:cNvPr id="28" name="Shape 26"/>
          <p:cNvSpPr/>
          <p:nvPr/>
        </p:nvSpPr>
        <p:spPr>
          <a:xfrm>
            <a:off x="5806440" y="1691640"/>
            <a:ext cx="576072" cy="292608"/>
          </a:xfrm>
          <a:prstGeom prst="rect">
            <a:avLst/>
          </a:prstGeom>
          <a:solidFill>
            <a:srgbClr val="FAFAFA"/>
          </a:solidFill>
          <a:ln w="6350">
            <a:solidFill>
              <a:srgbClr val="F0ECE5"/>
            </a:solidFill>
            <a:prstDash val="solid"/>
          </a:ln>
        </p:spPr>
      </p:sp>
      <p:sp>
        <p:nvSpPr>
          <p:cNvPr id="29" name="Shape 27"/>
          <p:cNvSpPr/>
          <p:nvPr/>
        </p:nvSpPr>
        <p:spPr>
          <a:xfrm>
            <a:off x="6400800" y="1691640"/>
            <a:ext cx="576072" cy="292608"/>
          </a:xfrm>
          <a:prstGeom prst="rect">
            <a:avLst/>
          </a:prstGeom>
          <a:solidFill>
            <a:srgbClr val="FAFAFA"/>
          </a:solidFill>
          <a:ln w="6350">
            <a:solidFill>
              <a:srgbClr val="F0ECE5"/>
            </a:solidFill>
            <a:prstDash val="solid"/>
          </a:ln>
        </p:spPr>
      </p:sp>
      <p:sp>
        <p:nvSpPr>
          <p:cNvPr id="30" name="Shape 28"/>
          <p:cNvSpPr/>
          <p:nvPr/>
        </p:nvSpPr>
        <p:spPr>
          <a:xfrm>
            <a:off x="6995160" y="1691640"/>
            <a:ext cx="576072" cy="292608"/>
          </a:xfrm>
          <a:prstGeom prst="rect">
            <a:avLst/>
          </a:prstGeom>
          <a:solidFill>
            <a:srgbClr val="FAFAFA"/>
          </a:solidFill>
          <a:ln w="6350">
            <a:solidFill>
              <a:srgbClr val="F0ECE5"/>
            </a:solidFill>
            <a:prstDash val="solid"/>
          </a:ln>
        </p:spPr>
      </p:sp>
      <p:sp>
        <p:nvSpPr>
          <p:cNvPr id="31" name="Shape 29"/>
          <p:cNvSpPr/>
          <p:nvPr/>
        </p:nvSpPr>
        <p:spPr>
          <a:xfrm>
            <a:off x="7589520" y="1691640"/>
            <a:ext cx="576072" cy="292608"/>
          </a:xfrm>
          <a:prstGeom prst="rect">
            <a:avLst/>
          </a:prstGeom>
          <a:solidFill>
            <a:srgbClr val="FAFAFA"/>
          </a:solidFill>
          <a:ln w="6350">
            <a:solidFill>
              <a:srgbClr val="F0ECE5"/>
            </a:solidFill>
            <a:prstDash val="solid"/>
          </a:ln>
        </p:spPr>
      </p:sp>
      <p:sp>
        <p:nvSpPr>
          <p:cNvPr id="32" name="Shape 30"/>
          <p:cNvSpPr/>
          <p:nvPr/>
        </p:nvSpPr>
        <p:spPr>
          <a:xfrm>
            <a:off x="8183880" y="1691640"/>
            <a:ext cx="576072" cy="292608"/>
          </a:xfrm>
          <a:prstGeom prst="rect">
            <a:avLst/>
          </a:prstGeom>
          <a:solidFill>
            <a:srgbClr val="FAFAFA"/>
          </a:solidFill>
          <a:ln w="6350">
            <a:solidFill>
              <a:srgbClr val="F0ECE5"/>
            </a:solidFill>
            <a:prstDash val="solid"/>
          </a:ln>
        </p:spPr>
      </p:sp>
      <p:sp>
        <p:nvSpPr>
          <p:cNvPr id="33" name="Shape 31"/>
          <p:cNvSpPr/>
          <p:nvPr/>
        </p:nvSpPr>
        <p:spPr>
          <a:xfrm>
            <a:off x="457200" y="2011680"/>
            <a:ext cx="3474720" cy="292608"/>
          </a:xfrm>
          <a:prstGeom prst="rect">
            <a:avLst/>
          </a:prstGeom>
          <a:solidFill>
            <a:srgbClr val="FAFAFA"/>
          </a:solidFill>
          <a:ln w="6350">
            <a:solidFill>
              <a:srgbClr val="F0ECE5"/>
            </a:solidFill>
            <a:prstDash val="solid"/>
          </a:ln>
        </p:spPr>
      </p:sp>
      <p:sp>
        <p:nvSpPr>
          <p:cNvPr id="34" name="Text 32"/>
          <p:cNvSpPr/>
          <p:nvPr/>
        </p:nvSpPr>
        <p:spPr>
          <a:xfrm>
            <a:off x="502920" y="203911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System Analysis &amp; Feature Planning</a:t>
            </a:r>
            <a:endParaRPr lang="en-US" sz="1000" dirty="0"/>
          </a:p>
        </p:txBody>
      </p:sp>
      <p:sp>
        <p:nvSpPr>
          <p:cNvPr id="35" name="Shape 33"/>
          <p:cNvSpPr/>
          <p:nvPr/>
        </p:nvSpPr>
        <p:spPr>
          <a:xfrm>
            <a:off x="4023360" y="2011680"/>
            <a:ext cx="576072" cy="292608"/>
          </a:xfrm>
          <a:prstGeom prst="rect">
            <a:avLst/>
          </a:prstGeom>
          <a:solidFill>
            <a:srgbClr val="FAFAFA"/>
          </a:solidFill>
          <a:ln w="6350">
            <a:solidFill>
              <a:srgbClr val="F0ECE5"/>
            </a:solidFill>
            <a:prstDash val="solid"/>
          </a:ln>
        </p:spPr>
      </p:sp>
      <p:sp>
        <p:nvSpPr>
          <p:cNvPr id="36" name="Shape 34"/>
          <p:cNvSpPr/>
          <p:nvPr/>
        </p:nvSpPr>
        <p:spPr>
          <a:xfrm>
            <a:off x="4617720" y="2011680"/>
            <a:ext cx="576072" cy="292608"/>
          </a:xfrm>
          <a:prstGeom prst="rect">
            <a:avLst/>
          </a:prstGeom>
          <a:solidFill>
            <a:srgbClr val="163A2B"/>
          </a:solidFill>
          <a:ln w="6350">
            <a:solidFill>
              <a:srgbClr val="F0ECE5"/>
            </a:solidFill>
            <a:prstDash val="solid"/>
          </a:ln>
        </p:spPr>
      </p:sp>
      <p:sp>
        <p:nvSpPr>
          <p:cNvPr id="37" name="Shape 35"/>
          <p:cNvSpPr/>
          <p:nvPr/>
        </p:nvSpPr>
        <p:spPr>
          <a:xfrm>
            <a:off x="5212080" y="2011680"/>
            <a:ext cx="576072" cy="292608"/>
          </a:xfrm>
          <a:prstGeom prst="rect">
            <a:avLst/>
          </a:prstGeom>
          <a:solidFill>
            <a:srgbClr val="FAFAFA"/>
          </a:solidFill>
          <a:ln w="6350">
            <a:solidFill>
              <a:srgbClr val="F0ECE5"/>
            </a:solidFill>
            <a:prstDash val="solid"/>
          </a:ln>
        </p:spPr>
      </p:sp>
      <p:sp>
        <p:nvSpPr>
          <p:cNvPr id="38" name="Shape 36"/>
          <p:cNvSpPr/>
          <p:nvPr/>
        </p:nvSpPr>
        <p:spPr>
          <a:xfrm>
            <a:off x="5806440" y="2011680"/>
            <a:ext cx="576072" cy="292608"/>
          </a:xfrm>
          <a:prstGeom prst="rect">
            <a:avLst/>
          </a:prstGeom>
          <a:solidFill>
            <a:srgbClr val="FAFAFA"/>
          </a:solidFill>
          <a:ln w="6350">
            <a:solidFill>
              <a:srgbClr val="F0ECE5"/>
            </a:solidFill>
            <a:prstDash val="solid"/>
          </a:ln>
        </p:spPr>
      </p:sp>
      <p:sp>
        <p:nvSpPr>
          <p:cNvPr id="39" name="Shape 37"/>
          <p:cNvSpPr/>
          <p:nvPr/>
        </p:nvSpPr>
        <p:spPr>
          <a:xfrm>
            <a:off x="6400800" y="2011680"/>
            <a:ext cx="576072" cy="292608"/>
          </a:xfrm>
          <a:prstGeom prst="rect">
            <a:avLst/>
          </a:prstGeom>
          <a:solidFill>
            <a:srgbClr val="FAFAFA"/>
          </a:solidFill>
          <a:ln w="6350">
            <a:solidFill>
              <a:srgbClr val="F0ECE5"/>
            </a:solidFill>
            <a:prstDash val="solid"/>
          </a:ln>
        </p:spPr>
      </p:sp>
      <p:sp>
        <p:nvSpPr>
          <p:cNvPr id="40" name="Shape 38"/>
          <p:cNvSpPr/>
          <p:nvPr/>
        </p:nvSpPr>
        <p:spPr>
          <a:xfrm>
            <a:off x="6995160" y="2011680"/>
            <a:ext cx="576072" cy="292608"/>
          </a:xfrm>
          <a:prstGeom prst="rect">
            <a:avLst/>
          </a:prstGeom>
          <a:solidFill>
            <a:srgbClr val="FAFAFA"/>
          </a:solidFill>
          <a:ln w="6350">
            <a:solidFill>
              <a:srgbClr val="F0ECE5"/>
            </a:solidFill>
            <a:prstDash val="solid"/>
          </a:ln>
        </p:spPr>
      </p:sp>
      <p:sp>
        <p:nvSpPr>
          <p:cNvPr id="41" name="Shape 39"/>
          <p:cNvSpPr/>
          <p:nvPr/>
        </p:nvSpPr>
        <p:spPr>
          <a:xfrm>
            <a:off x="7589520" y="2011680"/>
            <a:ext cx="576072" cy="292608"/>
          </a:xfrm>
          <a:prstGeom prst="rect">
            <a:avLst/>
          </a:prstGeom>
          <a:solidFill>
            <a:srgbClr val="FAFAFA"/>
          </a:solidFill>
          <a:ln w="6350">
            <a:solidFill>
              <a:srgbClr val="F0ECE5"/>
            </a:solidFill>
            <a:prstDash val="solid"/>
          </a:ln>
        </p:spPr>
      </p:sp>
      <p:sp>
        <p:nvSpPr>
          <p:cNvPr id="42" name="Shape 40"/>
          <p:cNvSpPr/>
          <p:nvPr/>
        </p:nvSpPr>
        <p:spPr>
          <a:xfrm>
            <a:off x="8183880" y="2011680"/>
            <a:ext cx="576072" cy="292608"/>
          </a:xfrm>
          <a:prstGeom prst="rect">
            <a:avLst/>
          </a:prstGeom>
          <a:solidFill>
            <a:srgbClr val="FAFAFA"/>
          </a:solidFill>
          <a:ln w="6350">
            <a:solidFill>
              <a:srgbClr val="F0ECE5"/>
            </a:solidFill>
            <a:prstDash val="solid"/>
          </a:ln>
        </p:spPr>
      </p:sp>
      <p:sp>
        <p:nvSpPr>
          <p:cNvPr id="43" name="Shape 41"/>
          <p:cNvSpPr/>
          <p:nvPr/>
        </p:nvSpPr>
        <p:spPr>
          <a:xfrm>
            <a:off x="457200" y="2331720"/>
            <a:ext cx="3474720" cy="292608"/>
          </a:xfrm>
          <a:prstGeom prst="rect">
            <a:avLst/>
          </a:prstGeom>
          <a:solidFill>
            <a:srgbClr val="FAFAFA"/>
          </a:solidFill>
          <a:ln w="6350">
            <a:solidFill>
              <a:srgbClr val="F0ECE5"/>
            </a:solidFill>
            <a:prstDash val="solid"/>
          </a:ln>
        </p:spPr>
      </p:sp>
      <p:sp>
        <p:nvSpPr>
          <p:cNvPr id="44" name="Text 42"/>
          <p:cNvSpPr/>
          <p:nvPr/>
        </p:nvSpPr>
        <p:spPr>
          <a:xfrm>
            <a:off x="502920" y="235915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Database &amp; Architecture Design</a:t>
            </a:r>
            <a:endParaRPr lang="en-US" sz="1000" dirty="0"/>
          </a:p>
        </p:txBody>
      </p:sp>
      <p:sp>
        <p:nvSpPr>
          <p:cNvPr id="45" name="Shape 43"/>
          <p:cNvSpPr/>
          <p:nvPr/>
        </p:nvSpPr>
        <p:spPr>
          <a:xfrm>
            <a:off x="4023360" y="2331720"/>
            <a:ext cx="576072" cy="292608"/>
          </a:xfrm>
          <a:prstGeom prst="rect">
            <a:avLst/>
          </a:prstGeom>
          <a:solidFill>
            <a:srgbClr val="FAFAFA"/>
          </a:solidFill>
          <a:ln w="6350">
            <a:solidFill>
              <a:srgbClr val="F0ECE5"/>
            </a:solidFill>
            <a:prstDash val="solid"/>
          </a:ln>
        </p:spPr>
      </p:sp>
      <p:sp>
        <p:nvSpPr>
          <p:cNvPr id="46" name="Shape 44"/>
          <p:cNvSpPr/>
          <p:nvPr/>
        </p:nvSpPr>
        <p:spPr>
          <a:xfrm>
            <a:off x="4617720" y="2331720"/>
            <a:ext cx="576072" cy="292608"/>
          </a:xfrm>
          <a:prstGeom prst="rect">
            <a:avLst/>
          </a:prstGeom>
          <a:solidFill>
            <a:srgbClr val="FAFAFA"/>
          </a:solidFill>
          <a:ln w="6350">
            <a:solidFill>
              <a:srgbClr val="F0ECE5"/>
            </a:solidFill>
            <a:prstDash val="solid"/>
          </a:ln>
        </p:spPr>
      </p:sp>
      <p:sp>
        <p:nvSpPr>
          <p:cNvPr id="47" name="Shape 45"/>
          <p:cNvSpPr/>
          <p:nvPr/>
        </p:nvSpPr>
        <p:spPr>
          <a:xfrm>
            <a:off x="5212080" y="2331720"/>
            <a:ext cx="576072" cy="292608"/>
          </a:xfrm>
          <a:prstGeom prst="rect">
            <a:avLst/>
          </a:prstGeom>
          <a:solidFill>
            <a:srgbClr val="163A2B"/>
          </a:solidFill>
          <a:ln w="6350">
            <a:solidFill>
              <a:srgbClr val="F0ECE5"/>
            </a:solidFill>
            <a:prstDash val="solid"/>
          </a:ln>
        </p:spPr>
      </p:sp>
      <p:sp>
        <p:nvSpPr>
          <p:cNvPr id="48" name="Shape 46"/>
          <p:cNvSpPr/>
          <p:nvPr/>
        </p:nvSpPr>
        <p:spPr>
          <a:xfrm>
            <a:off x="5806440" y="2331720"/>
            <a:ext cx="576072" cy="292608"/>
          </a:xfrm>
          <a:prstGeom prst="rect">
            <a:avLst/>
          </a:prstGeom>
          <a:solidFill>
            <a:srgbClr val="FAFAFA"/>
          </a:solidFill>
          <a:ln w="6350">
            <a:solidFill>
              <a:srgbClr val="F0ECE5"/>
            </a:solidFill>
            <a:prstDash val="solid"/>
          </a:ln>
        </p:spPr>
      </p:sp>
      <p:sp>
        <p:nvSpPr>
          <p:cNvPr id="49" name="Shape 47"/>
          <p:cNvSpPr/>
          <p:nvPr/>
        </p:nvSpPr>
        <p:spPr>
          <a:xfrm>
            <a:off x="6400800" y="2331720"/>
            <a:ext cx="576072" cy="292608"/>
          </a:xfrm>
          <a:prstGeom prst="rect">
            <a:avLst/>
          </a:prstGeom>
          <a:solidFill>
            <a:srgbClr val="FAFAFA"/>
          </a:solidFill>
          <a:ln w="6350">
            <a:solidFill>
              <a:srgbClr val="F0ECE5"/>
            </a:solidFill>
            <a:prstDash val="solid"/>
          </a:ln>
        </p:spPr>
      </p:sp>
      <p:sp>
        <p:nvSpPr>
          <p:cNvPr id="50" name="Shape 48"/>
          <p:cNvSpPr/>
          <p:nvPr/>
        </p:nvSpPr>
        <p:spPr>
          <a:xfrm>
            <a:off x="6995160" y="2331720"/>
            <a:ext cx="576072" cy="292608"/>
          </a:xfrm>
          <a:prstGeom prst="rect">
            <a:avLst/>
          </a:prstGeom>
          <a:solidFill>
            <a:srgbClr val="FAFAFA"/>
          </a:solidFill>
          <a:ln w="6350">
            <a:solidFill>
              <a:srgbClr val="F0ECE5"/>
            </a:solidFill>
            <a:prstDash val="solid"/>
          </a:ln>
        </p:spPr>
      </p:sp>
      <p:sp>
        <p:nvSpPr>
          <p:cNvPr id="51" name="Shape 49"/>
          <p:cNvSpPr/>
          <p:nvPr/>
        </p:nvSpPr>
        <p:spPr>
          <a:xfrm>
            <a:off x="7589520" y="2331720"/>
            <a:ext cx="576072" cy="292608"/>
          </a:xfrm>
          <a:prstGeom prst="rect">
            <a:avLst/>
          </a:prstGeom>
          <a:solidFill>
            <a:srgbClr val="FAFAFA"/>
          </a:solidFill>
          <a:ln w="6350">
            <a:solidFill>
              <a:srgbClr val="F0ECE5"/>
            </a:solidFill>
            <a:prstDash val="solid"/>
          </a:ln>
        </p:spPr>
      </p:sp>
      <p:sp>
        <p:nvSpPr>
          <p:cNvPr id="52" name="Shape 50"/>
          <p:cNvSpPr/>
          <p:nvPr/>
        </p:nvSpPr>
        <p:spPr>
          <a:xfrm>
            <a:off x="8183880" y="2331720"/>
            <a:ext cx="576072" cy="292608"/>
          </a:xfrm>
          <a:prstGeom prst="rect">
            <a:avLst/>
          </a:prstGeom>
          <a:solidFill>
            <a:srgbClr val="FAFAFA"/>
          </a:solidFill>
          <a:ln w="6350">
            <a:solidFill>
              <a:srgbClr val="F0ECE5"/>
            </a:solidFill>
            <a:prstDash val="solid"/>
          </a:ln>
        </p:spPr>
      </p:sp>
      <p:sp>
        <p:nvSpPr>
          <p:cNvPr id="53" name="Shape 51"/>
          <p:cNvSpPr/>
          <p:nvPr/>
        </p:nvSpPr>
        <p:spPr>
          <a:xfrm>
            <a:off x="457200" y="2651760"/>
            <a:ext cx="3474720" cy="292608"/>
          </a:xfrm>
          <a:prstGeom prst="rect">
            <a:avLst/>
          </a:prstGeom>
          <a:solidFill>
            <a:srgbClr val="FAFAFA"/>
          </a:solidFill>
          <a:ln w="6350">
            <a:solidFill>
              <a:srgbClr val="F0ECE5"/>
            </a:solidFill>
            <a:prstDash val="solid"/>
          </a:ln>
        </p:spPr>
      </p:sp>
      <p:sp>
        <p:nvSpPr>
          <p:cNvPr id="54" name="Text 52"/>
          <p:cNvSpPr/>
          <p:nvPr/>
        </p:nvSpPr>
        <p:spPr>
          <a:xfrm>
            <a:off x="502920" y="267919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GUI Design &amp; Prototype</a:t>
            </a:r>
            <a:endParaRPr lang="en-US" sz="1000" dirty="0"/>
          </a:p>
        </p:txBody>
      </p:sp>
      <p:sp>
        <p:nvSpPr>
          <p:cNvPr id="55" name="Shape 53"/>
          <p:cNvSpPr/>
          <p:nvPr/>
        </p:nvSpPr>
        <p:spPr>
          <a:xfrm>
            <a:off x="4023360" y="2651760"/>
            <a:ext cx="576072" cy="292608"/>
          </a:xfrm>
          <a:prstGeom prst="rect">
            <a:avLst/>
          </a:prstGeom>
          <a:solidFill>
            <a:srgbClr val="FAFAFA"/>
          </a:solidFill>
          <a:ln w="6350">
            <a:solidFill>
              <a:srgbClr val="F0ECE5"/>
            </a:solidFill>
            <a:prstDash val="solid"/>
          </a:ln>
        </p:spPr>
      </p:sp>
      <p:sp>
        <p:nvSpPr>
          <p:cNvPr id="56" name="Shape 54"/>
          <p:cNvSpPr/>
          <p:nvPr/>
        </p:nvSpPr>
        <p:spPr>
          <a:xfrm>
            <a:off x="4617720" y="2651760"/>
            <a:ext cx="576072" cy="292608"/>
          </a:xfrm>
          <a:prstGeom prst="rect">
            <a:avLst/>
          </a:prstGeom>
          <a:solidFill>
            <a:srgbClr val="FAFAFA"/>
          </a:solidFill>
          <a:ln w="6350">
            <a:solidFill>
              <a:srgbClr val="F0ECE5"/>
            </a:solidFill>
            <a:prstDash val="solid"/>
          </a:ln>
        </p:spPr>
      </p:sp>
      <p:sp>
        <p:nvSpPr>
          <p:cNvPr id="57" name="Shape 55"/>
          <p:cNvSpPr/>
          <p:nvPr/>
        </p:nvSpPr>
        <p:spPr>
          <a:xfrm>
            <a:off x="5212080" y="2651760"/>
            <a:ext cx="576072" cy="292608"/>
          </a:xfrm>
          <a:prstGeom prst="rect">
            <a:avLst/>
          </a:prstGeom>
          <a:solidFill>
            <a:srgbClr val="FAFAFA"/>
          </a:solidFill>
          <a:ln w="6350">
            <a:solidFill>
              <a:srgbClr val="F0ECE5"/>
            </a:solidFill>
            <a:prstDash val="solid"/>
          </a:ln>
        </p:spPr>
      </p:sp>
      <p:sp>
        <p:nvSpPr>
          <p:cNvPr id="58" name="Shape 56"/>
          <p:cNvSpPr/>
          <p:nvPr/>
        </p:nvSpPr>
        <p:spPr>
          <a:xfrm>
            <a:off x="5806440" y="2651760"/>
            <a:ext cx="576072" cy="292608"/>
          </a:xfrm>
          <a:prstGeom prst="rect">
            <a:avLst/>
          </a:prstGeom>
          <a:solidFill>
            <a:srgbClr val="C8A96B"/>
          </a:solidFill>
          <a:ln w="6350">
            <a:solidFill>
              <a:srgbClr val="F0ECE5"/>
            </a:solidFill>
            <a:prstDash val="solid"/>
          </a:ln>
        </p:spPr>
      </p:sp>
      <p:sp>
        <p:nvSpPr>
          <p:cNvPr id="59" name="Shape 57"/>
          <p:cNvSpPr/>
          <p:nvPr/>
        </p:nvSpPr>
        <p:spPr>
          <a:xfrm>
            <a:off x="6400800" y="2651760"/>
            <a:ext cx="576072" cy="292608"/>
          </a:xfrm>
          <a:prstGeom prst="rect">
            <a:avLst/>
          </a:prstGeom>
          <a:solidFill>
            <a:srgbClr val="FAFAFA"/>
          </a:solidFill>
          <a:ln w="6350">
            <a:solidFill>
              <a:srgbClr val="F0ECE5"/>
            </a:solidFill>
            <a:prstDash val="solid"/>
          </a:ln>
        </p:spPr>
      </p:sp>
      <p:sp>
        <p:nvSpPr>
          <p:cNvPr id="60" name="Shape 58"/>
          <p:cNvSpPr/>
          <p:nvPr/>
        </p:nvSpPr>
        <p:spPr>
          <a:xfrm>
            <a:off x="6995160" y="2651760"/>
            <a:ext cx="576072" cy="292608"/>
          </a:xfrm>
          <a:prstGeom prst="rect">
            <a:avLst/>
          </a:prstGeom>
          <a:solidFill>
            <a:srgbClr val="FAFAFA"/>
          </a:solidFill>
          <a:ln w="6350">
            <a:solidFill>
              <a:srgbClr val="F0ECE5"/>
            </a:solidFill>
            <a:prstDash val="solid"/>
          </a:ln>
        </p:spPr>
      </p:sp>
      <p:sp>
        <p:nvSpPr>
          <p:cNvPr id="61" name="Shape 59"/>
          <p:cNvSpPr/>
          <p:nvPr/>
        </p:nvSpPr>
        <p:spPr>
          <a:xfrm>
            <a:off x="7589520" y="2651760"/>
            <a:ext cx="576072" cy="292608"/>
          </a:xfrm>
          <a:prstGeom prst="rect">
            <a:avLst/>
          </a:prstGeom>
          <a:solidFill>
            <a:srgbClr val="FAFAFA"/>
          </a:solidFill>
          <a:ln w="6350">
            <a:solidFill>
              <a:srgbClr val="F0ECE5"/>
            </a:solidFill>
            <a:prstDash val="solid"/>
          </a:ln>
        </p:spPr>
      </p:sp>
      <p:sp>
        <p:nvSpPr>
          <p:cNvPr id="62" name="Shape 60"/>
          <p:cNvSpPr/>
          <p:nvPr/>
        </p:nvSpPr>
        <p:spPr>
          <a:xfrm>
            <a:off x="8183880" y="2651760"/>
            <a:ext cx="576072" cy="292608"/>
          </a:xfrm>
          <a:prstGeom prst="rect">
            <a:avLst/>
          </a:prstGeom>
          <a:solidFill>
            <a:srgbClr val="FAFAFA"/>
          </a:solidFill>
          <a:ln w="6350">
            <a:solidFill>
              <a:srgbClr val="F0ECE5"/>
            </a:solidFill>
            <a:prstDash val="solid"/>
          </a:ln>
        </p:spPr>
      </p:sp>
      <p:sp>
        <p:nvSpPr>
          <p:cNvPr id="63" name="Shape 61"/>
          <p:cNvSpPr/>
          <p:nvPr/>
        </p:nvSpPr>
        <p:spPr>
          <a:xfrm>
            <a:off x="457200" y="2971800"/>
            <a:ext cx="3474720" cy="292608"/>
          </a:xfrm>
          <a:prstGeom prst="rect">
            <a:avLst/>
          </a:prstGeom>
          <a:solidFill>
            <a:srgbClr val="FAFAFA"/>
          </a:solidFill>
          <a:ln w="6350">
            <a:solidFill>
              <a:srgbClr val="F0ECE5"/>
            </a:solidFill>
            <a:prstDash val="solid"/>
          </a:ln>
        </p:spPr>
      </p:sp>
      <p:sp>
        <p:nvSpPr>
          <p:cNvPr id="64" name="Text 62"/>
          <p:cNvSpPr/>
          <p:nvPr/>
        </p:nvSpPr>
        <p:spPr>
          <a:xfrm>
            <a:off x="502920" y="299923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Booking Workflow Development</a:t>
            </a:r>
            <a:endParaRPr lang="en-US" sz="1000" dirty="0"/>
          </a:p>
        </p:txBody>
      </p:sp>
      <p:sp>
        <p:nvSpPr>
          <p:cNvPr id="65" name="Shape 63"/>
          <p:cNvSpPr/>
          <p:nvPr/>
        </p:nvSpPr>
        <p:spPr>
          <a:xfrm>
            <a:off x="4023360" y="2971800"/>
            <a:ext cx="576072" cy="292608"/>
          </a:xfrm>
          <a:prstGeom prst="rect">
            <a:avLst/>
          </a:prstGeom>
          <a:solidFill>
            <a:srgbClr val="FAFAFA"/>
          </a:solidFill>
          <a:ln w="6350">
            <a:solidFill>
              <a:srgbClr val="F0ECE5"/>
            </a:solidFill>
            <a:prstDash val="solid"/>
          </a:ln>
        </p:spPr>
      </p:sp>
      <p:sp>
        <p:nvSpPr>
          <p:cNvPr id="66" name="Shape 64"/>
          <p:cNvSpPr/>
          <p:nvPr/>
        </p:nvSpPr>
        <p:spPr>
          <a:xfrm>
            <a:off x="4617720" y="2971800"/>
            <a:ext cx="576072" cy="292608"/>
          </a:xfrm>
          <a:prstGeom prst="rect">
            <a:avLst/>
          </a:prstGeom>
          <a:solidFill>
            <a:srgbClr val="FAFAFA"/>
          </a:solidFill>
          <a:ln w="6350">
            <a:solidFill>
              <a:srgbClr val="F0ECE5"/>
            </a:solidFill>
            <a:prstDash val="solid"/>
          </a:ln>
        </p:spPr>
      </p:sp>
      <p:sp>
        <p:nvSpPr>
          <p:cNvPr id="67" name="Shape 65"/>
          <p:cNvSpPr/>
          <p:nvPr/>
        </p:nvSpPr>
        <p:spPr>
          <a:xfrm>
            <a:off x="5212080" y="2971800"/>
            <a:ext cx="576072" cy="292608"/>
          </a:xfrm>
          <a:prstGeom prst="rect">
            <a:avLst/>
          </a:prstGeom>
          <a:solidFill>
            <a:srgbClr val="FAFAFA"/>
          </a:solidFill>
          <a:ln w="6350">
            <a:solidFill>
              <a:srgbClr val="F0ECE5"/>
            </a:solidFill>
            <a:prstDash val="solid"/>
          </a:ln>
        </p:spPr>
      </p:sp>
      <p:sp>
        <p:nvSpPr>
          <p:cNvPr id="68" name="Shape 66"/>
          <p:cNvSpPr/>
          <p:nvPr/>
        </p:nvSpPr>
        <p:spPr>
          <a:xfrm>
            <a:off x="5806440" y="2971800"/>
            <a:ext cx="576072" cy="292608"/>
          </a:xfrm>
          <a:prstGeom prst="rect">
            <a:avLst/>
          </a:prstGeom>
          <a:solidFill>
            <a:srgbClr val="FAFAFA"/>
          </a:solidFill>
          <a:ln w="6350">
            <a:solidFill>
              <a:srgbClr val="F0ECE5"/>
            </a:solidFill>
            <a:prstDash val="solid"/>
          </a:ln>
        </p:spPr>
      </p:sp>
      <p:sp>
        <p:nvSpPr>
          <p:cNvPr id="69" name="Shape 67"/>
          <p:cNvSpPr/>
          <p:nvPr/>
        </p:nvSpPr>
        <p:spPr>
          <a:xfrm>
            <a:off x="6400800" y="2971800"/>
            <a:ext cx="576072" cy="292608"/>
          </a:xfrm>
          <a:prstGeom prst="rect">
            <a:avLst/>
          </a:prstGeom>
          <a:solidFill>
            <a:srgbClr val="C8A96B"/>
          </a:solidFill>
          <a:ln w="6350">
            <a:solidFill>
              <a:srgbClr val="F0ECE5"/>
            </a:solidFill>
            <a:prstDash val="solid"/>
          </a:ln>
        </p:spPr>
      </p:sp>
      <p:sp>
        <p:nvSpPr>
          <p:cNvPr id="70" name="Shape 68"/>
          <p:cNvSpPr/>
          <p:nvPr/>
        </p:nvSpPr>
        <p:spPr>
          <a:xfrm>
            <a:off x="6995160" y="2971800"/>
            <a:ext cx="576072" cy="292608"/>
          </a:xfrm>
          <a:prstGeom prst="rect">
            <a:avLst/>
          </a:prstGeom>
          <a:solidFill>
            <a:srgbClr val="FAFAFA"/>
          </a:solidFill>
          <a:ln w="6350">
            <a:solidFill>
              <a:srgbClr val="F0ECE5"/>
            </a:solidFill>
            <a:prstDash val="solid"/>
          </a:ln>
        </p:spPr>
      </p:sp>
      <p:sp>
        <p:nvSpPr>
          <p:cNvPr id="71" name="Shape 69"/>
          <p:cNvSpPr/>
          <p:nvPr/>
        </p:nvSpPr>
        <p:spPr>
          <a:xfrm>
            <a:off x="7589520" y="2971800"/>
            <a:ext cx="576072" cy="292608"/>
          </a:xfrm>
          <a:prstGeom prst="rect">
            <a:avLst/>
          </a:prstGeom>
          <a:solidFill>
            <a:srgbClr val="FAFAFA"/>
          </a:solidFill>
          <a:ln w="6350">
            <a:solidFill>
              <a:srgbClr val="F0ECE5"/>
            </a:solidFill>
            <a:prstDash val="solid"/>
          </a:ln>
        </p:spPr>
      </p:sp>
      <p:sp>
        <p:nvSpPr>
          <p:cNvPr id="72" name="Shape 70"/>
          <p:cNvSpPr/>
          <p:nvPr/>
        </p:nvSpPr>
        <p:spPr>
          <a:xfrm>
            <a:off x="8183880" y="2971800"/>
            <a:ext cx="576072" cy="292608"/>
          </a:xfrm>
          <a:prstGeom prst="rect">
            <a:avLst/>
          </a:prstGeom>
          <a:solidFill>
            <a:srgbClr val="FAFAFA"/>
          </a:solidFill>
          <a:ln w="6350">
            <a:solidFill>
              <a:srgbClr val="F0ECE5"/>
            </a:solidFill>
            <a:prstDash val="solid"/>
          </a:ln>
        </p:spPr>
      </p:sp>
      <p:sp>
        <p:nvSpPr>
          <p:cNvPr id="73" name="Shape 71"/>
          <p:cNvSpPr/>
          <p:nvPr/>
        </p:nvSpPr>
        <p:spPr>
          <a:xfrm>
            <a:off x="457200" y="3291840"/>
            <a:ext cx="3474720" cy="292608"/>
          </a:xfrm>
          <a:prstGeom prst="rect">
            <a:avLst/>
          </a:prstGeom>
          <a:solidFill>
            <a:srgbClr val="FAFAFA"/>
          </a:solidFill>
          <a:ln w="6350">
            <a:solidFill>
              <a:srgbClr val="F0ECE5"/>
            </a:solidFill>
            <a:prstDash val="solid"/>
          </a:ln>
        </p:spPr>
      </p:sp>
      <p:sp>
        <p:nvSpPr>
          <p:cNvPr id="74" name="Text 72"/>
          <p:cNvSpPr/>
          <p:nvPr/>
        </p:nvSpPr>
        <p:spPr>
          <a:xfrm>
            <a:off x="502920" y="331927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Staff &amp; Manager Workspace Development</a:t>
            </a:r>
            <a:endParaRPr lang="en-US" sz="1000" dirty="0"/>
          </a:p>
        </p:txBody>
      </p:sp>
      <p:sp>
        <p:nvSpPr>
          <p:cNvPr id="75" name="Shape 73"/>
          <p:cNvSpPr/>
          <p:nvPr/>
        </p:nvSpPr>
        <p:spPr>
          <a:xfrm>
            <a:off x="4023360" y="3291840"/>
            <a:ext cx="576072" cy="292608"/>
          </a:xfrm>
          <a:prstGeom prst="rect">
            <a:avLst/>
          </a:prstGeom>
          <a:solidFill>
            <a:srgbClr val="FAFAFA"/>
          </a:solidFill>
          <a:ln w="6350">
            <a:solidFill>
              <a:srgbClr val="F0ECE5"/>
            </a:solidFill>
            <a:prstDash val="solid"/>
          </a:ln>
        </p:spPr>
      </p:sp>
      <p:sp>
        <p:nvSpPr>
          <p:cNvPr id="76" name="Shape 74"/>
          <p:cNvSpPr/>
          <p:nvPr/>
        </p:nvSpPr>
        <p:spPr>
          <a:xfrm>
            <a:off x="4617720" y="3291840"/>
            <a:ext cx="576072" cy="292608"/>
          </a:xfrm>
          <a:prstGeom prst="rect">
            <a:avLst/>
          </a:prstGeom>
          <a:solidFill>
            <a:srgbClr val="FAFAFA"/>
          </a:solidFill>
          <a:ln w="6350">
            <a:solidFill>
              <a:srgbClr val="F0ECE5"/>
            </a:solidFill>
            <a:prstDash val="solid"/>
          </a:ln>
        </p:spPr>
      </p:sp>
      <p:sp>
        <p:nvSpPr>
          <p:cNvPr id="77" name="Shape 75"/>
          <p:cNvSpPr/>
          <p:nvPr/>
        </p:nvSpPr>
        <p:spPr>
          <a:xfrm>
            <a:off x="5212080" y="3291840"/>
            <a:ext cx="576072" cy="292608"/>
          </a:xfrm>
          <a:prstGeom prst="rect">
            <a:avLst/>
          </a:prstGeom>
          <a:solidFill>
            <a:srgbClr val="FAFAFA"/>
          </a:solidFill>
          <a:ln w="6350">
            <a:solidFill>
              <a:srgbClr val="F0ECE5"/>
            </a:solidFill>
            <a:prstDash val="solid"/>
          </a:ln>
        </p:spPr>
      </p:sp>
      <p:sp>
        <p:nvSpPr>
          <p:cNvPr id="78" name="Shape 76"/>
          <p:cNvSpPr/>
          <p:nvPr/>
        </p:nvSpPr>
        <p:spPr>
          <a:xfrm>
            <a:off x="5806440" y="3291840"/>
            <a:ext cx="576072" cy="292608"/>
          </a:xfrm>
          <a:prstGeom prst="rect">
            <a:avLst/>
          </a:prstGeom>
          <a:solidFill>
            <a:srgbClr val="FAFAFA"/>
          </a:solidFill>
          <a:ln w="6350">
            <a:solidFill>
              <a:srgbClr val="F0ECE5"/>
            </a:solidFill>
            <a:prstDash val="solid"/>
          </a:ln>
        </p:spPr>
      </p:sp>
      <p:sp>
        <p:nvSpPr>
          <p:cNvPr id="79" name="Shape 77"/>
          <p:cNvSpPr/>
          <p:nvPr/>
        </p:nvSpPr>
        <p:spPr>
          <a:xfrm>
            <a:off x="6400800" y="3291840"/>
            <a:ext cx="576072" cy="292608"/>
          </a:xfrm>
          <a:prstGeom prst="rect">
            <a:avLst/>
          </a:prstGeom>
          <a:solidFill>
            <a:srgbClr val="FAFAFA"/>
          </a:solidFill>
          <a:ln w="6350">
            <a:solidFill>
              <a:srgbClr val="F0ECE5"/>
            </a:solidFill>
            <a:prstDash val="solid"/>
          </a:ln>
        </p:spPr>
      </p:sp>
      <p:sp>
        <p:nvSpPr>
          <p:cNvPr id="80" name="Shape 78"/>
          <p:cNvSpPr/>
          <p:nvPr/>
        </p:nvSpPr>
        <p:spPr>
          <a:xfrm>
            <a:off x="6995160" y="3291840"/>
            <a:ext cx="576072" cy="292608"/>
          </a:xfrm>
          <a:prstGeom prst="rect">
            <a:avLst/>
          </a:prstGeom>
          <a:solidFill>
            <a:srgbClr val="C8A96B"/>
          </a:solidFill>
          <a:ln w="6350">
            <a:solidFill>
              <a:srgbClr val="F0ECE5"/>
            </a:solidFill>
            <a:prstDash val="solid"/>
          </a:ln>
        </p:spPr>
      </p:sp>
      <p:sp>
        <p:nvSpPr>
          <p:cNvPr id="81" name="Shape 79"/>
          <p:cNvSpPr/>
          <p:nvPr/>
        </p:nvSpPr>
        <p:spPr>
          <a:xfrm>
            <a:off x="7589520" y="3291840"/>
            <a:ext cx="576072" cy="292608"/>
          </a:xfrm>
          <a:prstGeom prst="rect">
            <a:avLst/>
          </a:prstGeom>
          <a:solidFill>
            <a:srgbClr val="FAFAFA"/>
          </a:solidFill>
          <a:ln w="6350">
            <a:solidFill>
              <a:srgbClr val="F0ECE5"/>
            </a:solidFill>
            <a:prstDash val="solid"/>
          </a:ln>
        </p:spPr>
      </p:sp>
      <p:sp>
        <p:nvSpPr>
          <p:cNvPr id="82" name="Shape 80"/>
          <p:cNvSpPr/>
          <p:nvPr/>
        </p:nvSpPr>
        <p:spPr>
          <a:xfrm>
            <a:off x="8183880" y="3291840"/>
            <a:ext cx="576072" cy="292608"/>
          </a:xfrm>
          <a:prstGeom prst="rect">
            <a:avLst/>
          </a:prstGeom>
          <a:solidFill>
            <a:srgbClr val="FAFAFA"/>
          </a:solidFill>
          <a:ln w="6350">
            <a:solidFill>
              <a:srgbClr val="F0ECE5"/>
            </a:solidFill>
            <a:prstDash val="solid"/>
          </a:ln>
        </p:spPr>
      </p:sp>
      <p:sp>
        <p:nvSpPr>
          <p:cNvPr id="83" name="Shape 81"/>
          <p:cNvSpPr/>
          <p:nvPr/>
        </p:nvSpPr>
        <p:spPr>
          <a:xfrm>
            <a:off x="457200" y="3611880"/>
            <a:ext cx="3474720" cy="292608"/>
          </a:xfrm>
          <a:prstGeom prst="rect">
            <a:avLst/>
          </a:prstGeom>
          <a:solidFill>
            <a:srgbClr val="FAFAFA"/>
          </a:solidFill>
          <a:ln w="6350">
            <a:solidFill>
              <a:srgbClr val="F0ECE5"/>
            </a:solidFill>
            <a:prstDash val="solid"/>
          </a:ln>
        </p:spPr>
      </p:sp>
      <p:sp>
        <p:nvSpPr>
          <p:cNvPr id="84" name="Text 82"/>
          <p:cNvSpPr/>
          <p:nvPr/>
        </p:nvSpPr>
        <p:spPr>
          <a:xfrm>
            <a:off x="502920" y="363931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Testing &amp; Debugging</a:t>
            </a:r>
            <a:endParaRPr lang="en-US" sz="1000" dirty="0"/>
          </a:p>
        </p:txBody>
      </p:sp>
      <p:sp>
        <p:nvSpPr>
          <p:cNvPr id="85" name="Shape 83"/>
          <p:cNvSpPr/>
          <p:nvPr/>
        </p:nvSpPr>
        <p:spPr>
          <a:xfrm>
            <a:off x="4023360" y="3611880"/>
            <a:ext cx="576072" cy="292608"/>
          </a:xfrm>
          <a:prstGeom prst="rect">
            <a:avLst/>
          </a:prstGeom>
          <a:solidFill>
            <a:srgbClr val="FAFAFA"/>
          </a:solidFill>
          <a:ln w="6350">
            <a:solidFill>
              <a:srgbClr val="F0ECE5"/>
            </a:solidFill>
            <a:prstDash val="solid"/>
          </a:ln>
        </p:spPr>
      </p:sp>
      <p:sp>
        <p:nvSpPr>
          <p:cNvPr id="86" name="Shape 84"/>
          <p:cNvSpPr/>
          <p:nvPr/>
        </p:nvSpPr>
        <p:spPr>
          <a:xfrm>
            <a:off x="4617720" y="3611880"/>
            <a:ext cx="576072" cy="292608"/>
          </a:xfrm>
          <a:prstGeom prst="rect">
            <a:avLst/>
          </a:prstGeom>
          <a:solidFill>
            <a:srgbClr val="FAFAFA"/>
          </a:solidFill>
          <a:ln w="6350">
            <a:solidFill>
              <a:srgbClr val="F0ECE5"/>
            </a:solidFill>
            <a:prstDash val="solid"/>
          </a:ln>
        </p:spPr>
      </p:sp>
      <p:sp>
        <p:nvSpPr>
          <p:cNvPr id="87" name="Shape 85"/>
          <p:cNvSpPr/>
          <p:nvPr/>
        </p:nvSpPr>
        <p:spPr>
          <a:xfrm>
            <a:off x="5212080" y="3611880"/>
            <a:ext cx="576072" cy="292608"/>
          </a:xfrm>
          <a:prstGeom prst="rect">
            <a:avLst/>
          </a:prstGeom>
          <a:solidFill>
            <a:srgbClr val="FAFAFA"/>
          </a:solidFill>
          <a:ln w="6350">
            <a:solidFill>
              <a:srgbClr val="F0ECE5"/>
            </a:solidFill>
            <a:prstDash val="solid"/>
          </a:ln>
        </p:spPr>
      </p:sp>
      <p:sp>
        <p:nvSpPr>
          <p:cNvPr id="88" name="Shape 86"/>
          <p:cNvSpPr/>
          <p:nvPr/>
        </p:nvSpPr>
        <p:spPr>
          <a:xfrm>
            <a:off x="5806440" y="3611880"/>
            <a:ext cx="576072" cy="292608"/>
          </a:xfrm>
          <a:prstGeom prst="rect">
            <a:avLst/>
          </a:prstGeom>
          <a:solidFill>
            <a:srgbClr val="FAFAFA"/>
          </a:solidFill>
          <a:ln w="6350">
            <a:solidFill>
              <a:srgbClr val="F0ECE5"/>
            </a:solidFill>
            <a:prstDash val="solid"/>
          </a:ln>
        </p:spPr>
      </p:sp>
      <p:sp>
        <p:nvSpPr>
          <p:cNvPr id="89" name="Shape 87"/>
          <p:cNvSpPr/>
          <p:nvPr/>
        </p:nvSpPr>
        <p:spPr>
          <a:xfrm>
            <a:off x="6400800" y="3611880"/>
            <a:ext cx="576072" cy="292608"/>
          </a:xfrm>
          <a:prstGeom prst="rect">
            <a:avLst/>
          </a:prstGeom>
          <a:solidFill>
            <a:srgbClr val="FAFAFA"/>
          </a:solidFill>
          <a:ln w="6350">
            <a:solidFill>
              <a:srgbClr val="F0ECE5"/>
            </a:solidFill>
            <a:prstDash val="solid"/>
          </a:ln>
        </p:spPr>
      </p:sp>
      <p:sp>
        <p:nvSpPr>
          <p:cNvPr id="90" name="Shape 88"/>
          <p:cNvSpPr/>
          <p:nvPr/>
        </p:nvSpPr>
        <p:spPr>
          <a:xfrm>
            <a:off x="6995160" y="3611880"/>
            <a:ext cx="576072" cy="292608"/>
          </a:xfrm>
          <a:prstGeom prst="rect">
            <a:avLst/>
          </a:prstGeom>
          <a:solidFill>
            <a:srgbClr val="FAFAFA"/>
          </a:solidFill>
          <a:ln w="6350">
            <a:solidFill>
              <a:srgbClr val="F0ECE5"/>
            </a:solidFill>
            <a:prstDash val="solid"/>
          </a:ln>
        </p:spPr>
      </p:sp>
      <p:sp>
        <p:nvSpPr>
          <p:cNvPr id="91" name="Shape 89"/>
          <p:cNvSpPr/>
          <p:nvPr/>
        </p:nvSpPr>
        <p:spPr>
          <a:xfrm>
            <a:off x="7589520" y="3611880"/>
            <a:ext cx="576072" cy="292608"/>
          </a:xfrm>
          <a:prstGeom prst="rect">
            <a:avLst/>
          </a:prstGeom>
          <a:solidFill>
            <a:srgbClr val="6B7A6F"/>
          </a:solidFill>
          <a:ln w="6350">
            <a:solidFill>
              <a:srgbClr val="F0ECE5"/>
            </a:solidFill>
            <a:prstDash val="solid"/>
          </a:ln>
        </p:spPr>
      </p:sp>
      <p:sp>
        <p:nvSpPr>
          <p:cNvPr id="92" name="Shape 90"/>
          <p:cNvSpPr/>
          <p:nvPr/>
        </p:nvSpPr>
        <p:spPr>
          <a:xfrm>
            <a:off x="8183880" y="3611880"/>
            <a:ext cx="576072" cy="292608"/>
          </a:xfrm>
          <a:prstGeom prst="rect">
            <a:avLst/>
          </a:prstGeom>
          <a:solidFill>
            <a:srgbClr val="FAFAFA"/>
          </a:solidFill>
          <a:ln w="6350">
            <a:solidFill>
              <a:srgbClr val="F0ECE5"/>
            </a:solidFill>
            <a:prstDash val="solid"/>
          </a:ln>
        </p:spPr>
      </p:sp>
      <p:sp>
        <p:nvSpPr>
          <p:cNvPr id="93" name="Shape 91"/>
          <p:cNvSpPr/>
          <p:nvPr/>
        </p:nvSpPr>
        <p:spPr>
          <a:xfrm>
            <a:off x="457200" y="3931920"/>
            <a:ext cx="3474720" cy="292608"/>
          </a:xfrm>
          <a:prstGeom prst="rect">
            <a:avLst/>
          </a:prstGeom>
          <a:solidFill>
            <a:srgbClr val="FAFAFA"/>
          </a:solidFill>
          <a:ln w="6350">
            <a:solidFill>
              <a:srgbClr val="F0ECE5"/>
            </a:solidFill>
            <a:prstDash val="solid"/>
          </a:ln>
        </p:spPr>
      </p:sp>
      <p:sp>
        <p:nvSpPr>
          <p:cNvPr id="94" name="Text 92"/>
          <p:cNvSpPr/>
          <p:nvPr/>
        </p:nvSpPr>
        <p:spPr>
          <a:xfrm>
            <a:off x="502920" y="3959352"/>
            <a:ext cx="3383280" cy="237744"/>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Final Documentation &amp; Presentation</a:t>
            </a:r>
            <a:endParaRPr lang="en-US" sz="1000" dirty="0"/>
          </a:p>
        </p:txBody>
      </p:sp>
      <p:sp>
        <p:nvSpPr>
          <p:cNvPr id="95" name="Shape 93"/>
          <p:cNvSpPr/>
          <p:nvPr/>
        </p:nvSpPr>
        <p:spPr>
          <a:xfrm>
            <a:off x="4023360" y="3931920"/>
            <a:ext cx="576072" cy="292608"/>
          </a:xfrm>
          <a:prstGeom prst="rect">
            <a:avLst/>
          </a:prstGeom>
          <a:solidFill>
            <a:srgbClr val="FAFAFA"/>
          </a:solidFill>
          <a:ln w="6350">
            <a:solidFill>
              <a:srgbClr val="F0ECE5"/>
            </a:solidFill>
            <a:prstDash val="solid"/>
          </a:ln>
        </p:spPr>
      </p:sp>
      <p:sp>
        <p:nvSpPr>
          <p:cNvPr id="96" name="Shape 94"/>
          <p:cNvSpPr/>
          <p:nvPr/>
        </p:nvSpPr>
        <p:spPr>
          <a:xfrm>
            <a:off x="4617720" y="3931920"/>
            <a:ext cx="576072" cy="292608"/>
          </a:xfrm>
          <a:prstGeom prst="rect">
            <a:avLst/>
          </a:prstGeom>
          <a:solidFill>
            <a:srgbClr val="FAFAFA"/>
          </a:solidFill>
          <a:ln w="6350">
            <a:solidFill>
              <a:srgbClr val="F0ECE5"/>
            </a:solidFill>
            <a:prstDash val="solid"/>
          </a:ln>
        </p:spPr>
      </p:sp>
      <p:sp>
        <p:nvSpPr>
          <p:cNvPr id="97" name="Shape 95"/>
          <p:cNvSpPr/>
          <p:nvPr/>
        </p:nvSpPr>
        <p:spPr>
          <a:xfrm>
            <a:off x="5212080" y="3931920"/>
            <a:ext cx="576072" cy="292608"/>
          </a:xfrm>
          <a:prstGeom prst="rect">
            <a:avLst/>
          </a:prstGeom>
          <a:solidFill>
            <a:srgbClr val="FAFAFA"/>
          </a:solidFill>
          <a:ln w="6350">
            <a:solidFill>
              <a:srgbClr val="F0ECE5"/>
            </a:solidFill>
            <a:prstDash val="solid"/>
          </a:ln>
        </p:spPr>
      </p:sp>
      <p:sp>
        <p:nvSpPr>
          <p:cNvPr id="98" name="Shape 96"/>
          <p:cNvSpPr/>
          <p:nvPr/>
        </p:nvSpPr>
        <p:spPr>
          <a:xfrm>
            <a:off x="5806440" y="3931920"/>
            <a:ext cx="576072" cy="292608"/>
          </a:xfrm>
          <a:prstGeom prst="rect">
            <a:avLst/>
          </a:prstGeom>
          <a:solidFill>
            <a:srgbClr val="FAFAFA"/>
          </a:solidFill>
          <a:ln w="6350">
            <a:solidFill>
              <a:srgbClr val="F0ECE5"/>
            </a:solidFill>
            <a:prstDash val="solid"/>
          </a:ln>
        </p:spPr>
      </p:sp>
      <p:sp>
        <p:nvSpPr>
          <p:cNvPr id="99" name="Shape 97"/>
          <p:cNvSpPr/>
          <p:nvPr/>
        </p:nvSpPr>
        <p:spPr>
          <a:xfrm>
            <a:off x="6400800" y="3931920"/>
            <a:ext cx="576072" cy="292608"/>
          </a:xfrm>
          <a:prstGeom prst="rect">
            <a:avLst/>
          </a:prstGeom>
          <a:solidFill>
            <a:srgbClr val="FAFAFA"/>
          </a:solidFill>
          <a:ln w="6350">
            <a:solidFill>
              <a:srgbClr val="F0ECE5"/>
            </a:solidFill>
            <a:prstDash val="solid"/>
          </a:ln>
        </p:spPr>
      </p:sp>
      <p:sp>
        <p:nvSpPr>
          <p:cNvPr id="100" name="Shape 98"/>
          <p:cNvSpPr/>
          <p:nvPr/>
        </p:nvSpPr>
        <p:spPr>
          <a:xfrm>
            <a:off x="6995160" y="3931920"/>
            <a:ext cx="576072" cy="292608"/>
          </a:xfrm>
          <a:prstGeom prst="rect">
            <a:avLst/>
          </a:prstGeom>
          <a:solidFill>
            <a:srgbClr val="FAFAFA"/>
          </a:solidFill>
          <a:ln w="6350">
            <a:solidFill>
              <a:srgbClr val="F0ECE5"/>
            </a:solidFill>
            <a:prstDash val="solid"/>
          </a:ln>
        </p:spPr>
      </p:sp>
      <p:sp>
        <p:nvSpPr>
          <p:cNvPr id="101" name="Shape 99"/>
          <p:cNvSpPr/>
          <p:nvPr/>
        </p:nvSpPr>
        <p:spPr>
          <a:xfrm>
            <a:off x="7589520" y="3931920"/>
            <a:ext cx="576072" cy="292608"/>
          </a:xfrm>
          <a:prstGeom prst="rect">
            <a:avLst/>
          </a:prstGeom>
          <a:solidFill>
            <a:srgbClr val="FAFAFA"/>
          </a:solidFill>
          <a:ln w="6350">
            <a:solidFill>
              <a:srgbClr val="F0ECE5"/>
            </a:solidFill>
            <a:prstDash val="solid"/>
          </a:ln>
        </p:spPr>
      </p:sp>
      <p:sp>
        <p:nvSpPr>
          <p:cNvPr id="102" name="Shape 100"/>
          <p:cNvSpPr/>
          <p:nvPr/>
        </p:nvSpPr>
        <p:spPr>
          <a:xfrm>
            <a:off x="8183880" y="3931920"/>
            <a:ext cx="576072" cy="292608"/>
          </a:xfrm>
          <a:prstGeom prst="rect">
            <a:avLst/>
          </a:prstGeom>
          <a:solidFill>
            <a:srgbClr val="6B7A6F"/>
          </a:solidFill>
          <a:ln w="6350">
            <a:solidFill>
              <a:srgbClr val="F0ECE5"/>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Project Management: PERT Chart</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Task dependencies and flow</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548640" y="1417320"/>
            <a:ext cx="1188720" cy="411480"/>
          </a:xfrm>
          <a:prstGeom prst="roundRect">
            <a:avLst>
              <a:gd name="adj" fmla="val 17778"/>
            </a:avLst>
          </a:prstGeom>
          <a:solidFill>
            <a:srgbClr val="163A2B"/>
          </a:solidFill>
          <a:ln w="12700">
            <a:solidFill>
              <a:srgbClr val="FAFAFA"/>
            </a:solidFill>
            <a:prstDash val="solid"/>
          </a:ln>
        </p:spPr>
      </p:sp>
      <p:sp>
        <p:nvSpPr>
          <p:cNvPr id="6" name="Text 4"/>
          <p:cNvSpPr/>
          <p:nvPr/>
        </p:nvSpPr>
        <p:spPr>
          <a:xfrm>
            <a:off x="548640" y="144475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A</a:t>
            </a:r>
            <a:endParaRPr lang="en-US" sz="1100" dirty="0"/>
          </a:p>
        </p:txBody>
      </p:sp>
      <p:sp>
        <p:nvSpPr>
          <p:cNvPr id="7" name="Text 5"/>
          <p:cNvSpPr/>
          <p:nvPr/>
        </p:nvSpPr>
        <p:spPr>
          <a:xfrm>
            <a:off x="548640" y="160020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Requirement</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Gathering</a:t>
            </a:r>
            <a:endParaRPr lang="en-US" sz="800" dirty="0"/>
          </a:p>
        </p:txBody>
      </p:sp>
      <p:sp>
        <p:nvSpPr>
          <p:cNvPr id="8" name="Shape 6"/>
          <p:cNvSpPr/>
          <p:nvPr/>
        </p:nvSpPr>
        <p:spPr>
          <a:xfrm>
            <a:off x="2194560" y="1417320"/>
            <a:ext cx="1188720" cy="411480"/>
          </a:xfrm>
          <a:prstGeom prst="roundRect">
            <a:avLst>
              <a:gd name="adj" fmla="val 17778"/>
            </a:avLst>
          </a:prstGeom>
          <a:solidFill>
            <a:srgbClr val="163A2B"/>
          </a:solidFill>
          <a:ln w="12700">
            <a:solidFill>
              <a:srgbClr val="FAFAFA"/>
            </a:solidFill>
            <a:prstDash val="solid"/>
          </a:ln>
        </p:spPr>
      </p:sp>
      <p:sp>
        <p:nvSpPr>
          <p:cNvPr id="9" name="Text 7"/>
          <p:cNvSpPr/>
          <p:nvPr/>
        </p:nvSpPr>
        <p:spPr>
          <a:xfrm>
            <a:off x="2194560" y="144475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B</a:t>
            </a:r>
            <a:endParaRPr lang="en-US" sz="1100" dirty="0"/>
          </a:p>
        </p:txBody>
      </p:sp>
      <p:sp>
        <p:nvSpPr>
          <p:cNvPr id="10" name="Text 8"/>
          <p:cNvSpPr/>
          <p:nvPr/>
        </p:nvSpPr>
        <p:spPr>
          <a:xfrm>
            <a:off x="2194560" y="160020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Company</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Background</a:t>
            </a:r>
            <a:endParaRPr lang="en-US" sz="800" dirty="0"/>
          </a:p>
        </p:txBody>
      </p:sp>
      <p:sp>
        <p:nvSpPr>
          <p:cNvPr id="11" name="Shape 9"/>
          <p:cNvSpPr/>
          <p:nvPr/>
        </p:nvSpPr>
        <p:spPr>
          <a:xfrm>
            <a:off x="3840480" y="1417320"/>
            <a:ext cx="1188720" cy="411480"/>
          </a:xfrm>
          <a:prstGeom prst="roundRect">
            <a:avLst>
              <a:gd name="adj" fmla="val 17778"/>
            </a:avLst>
          </a:prstGeom>
          <a:solidFill>
            <a:srgbClr val="163A2B"/>
          </a:solidFill>
          <a:ln w="12700">
            <a:solidFill>
              <a:srgbClr val="FAFAFA"/>
            </a:solidFill>
            <a:prstDash val="solid"/>
          </a:ln>
        </p:spPr>
      </p:sp>
      <p:sp>
        <p:nvSpPr>
          <p:cNvPr id="12" name="Text 10"/>
          <p:cNvSpPr/>
          <p:nvPr/>
        </p:nvSpPr>
        <p:spPr>
          <a:xfrm>
            <a:off x="3840480" y="144475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C</a:t>
            </a:r>
            <a:endParaRPr lang="en-US" sz="1100" dirty="0"/>
          </a:p>
        </p:txBody>
      </p:sp>
      <p:sp>
        <p:nvSpPr>
          <p:cNvPr id="13" name="Text 11"/>
          <p:cNvSpPr/>
          <p:nvPr/>
        </p:nvSpPr>
        <p:spPr>
          <a:xfrm>
            <a:off x="3840480" y="160020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System Feature</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Analysis</a:t>
            </a:r>
            <a:endParaRPr lang="en-US" sz="800" dirty="0"/>
          </a:p>
        </p:txBody>
      </p:sp>
      <p:sp>
        <p:nvSpPr>
          <p:cNvPr id="14" name="Shape 12"/>
          <p:cNvSpPr/>
          <p:nvPr/>
        </p:nvSpPr>
        <p:spPr>
          <a:xfrm>
            <a:off x="1737360" y="1627632"/>
            <a:ext cx="457200" cy="9144"/>
          </a:xfrm>
          <a:prstGeom prst="line">
            <a:avLst/>
          </a:prstGeom>
          <a:noFill/>
          <a:ln w="19050">
            <a:solidFill>
              <a:srgbClr val="6B7A6F"/>
            </a:solidFill>
            <a:prstDash val="solid"/>
            <a:headEnd type="none"/>
            <a:tailEnd type="arrow"/>
          </a:ln>
        </p:spPr>
      </p:sp>
      <p:sp>
        <p:nvSpPr>
          <p:cNvPr id="15" name="Shape 13"/>
          <p:cNvSpPr/>
          <p:nvPr/>
        </p:nvSpPr>
        <p:spPr>
          <a:xfrm>
            <a:off x="3383280" y="1627632"/>
            <a:ext cx="457200" cy="9144"/>
          </a:xfrm>
          <a:prstGeom prst="line">
            <a:avLst/>
          </a:prstGeom>
          <a:noFill/>
          <a:ln w="19050">
            <a:solidFill>
              <a:srgbClr val="6B7A6F"/>
            </a:solidFill>
            <a:prstDash val="solid"/>
            <a:headEnd type="none"/>
            <a:tailEnd type="arrow"/>
          </a:ln>
        </p:spPr>
      </p:sp>
      <p:sp>
        <p:nvSpPr>
          <p:cNvPr id="16" name="Shape 14"/>
          <p:cNvSpPr/>
          <p:nvPr/>
        </p:nvSpPr>
        <p:spPr>
          <a:xfrm>
            <a:off x="3840480" y="2148840"/>
            <a:ext cx="1188720" cy="411480"/>
          </a:xfrm>
          <a:prstGeom prst="roundRect">
            <a:avLst>
              <a:gd name="adj" fmla="val 17778"/>
            </a:avLst>
          </a:prstGeom>
          <a:solidFill>
            <a:srgbClr val="C8A96B"/>
          </a:solidFill>
          <a:ln w="12700">
            <a:solidFill>
              <a:srgbClr val="FAFAFA"/>
            </a:solidFill>
            <a:prstDash val="solid"/>
          </a:ln>
        </p:spPr>
      </p:sp>
      <p:sp>
        <p:nvSpPr>
          <p:cNvPr id="17" name="Text 15"/>
          <p:cNvSpPr/>
          <p:nvPr/>
        </p:nvSpPr>
        <p:spPr>
          <a:xfrm>
            <a:off x="3840480" y="217627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D</a:t>
            </a:r>
            <a:endParaRPr lang="en-US" sz="1100" dirty="0"/>
          </a:p>
        </p:txBody>
      </p:sp>
      <p:sp>
        <p:nvSpPr>
          <p:cNvPr id="18" name="Text 16"/>
          <p:cNvSpPr/>
          <p:nvPr/>
        </p:nvSpPr>
        <p:spPr>
          <a:xfrm>
            <a:off x="3840480" y="233172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Database</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Design</a:t>
            </a:r>
            <a:endParaRPr lang="en-US" sz="800" dirty="0"/>
          </a:p>
        </p:txBody>
      </p:sp>
      <p:sp>
        <p:nvSpPr>
          <p:cNvPr id="19" name="Shape 17"/>
          <p:cNvSpPr/>
          <p:nvPr/>
        </p:nvSpPr>
        <p:spPr>
          <a:xfrm>
            <a:off x="5486400" y="2148840"/>
            <a:ext cx="1188720" cy="411480"/>
          </a:xfrm>
          <a:prstGeom prst="roundRect">
            <a:avLst>
              <a:gd name="adj" fmla="val 17778"/>
            </a:avLst>
          </a:prstGeom>
          <a:solidFill>
            <a:srgbClr val="C8A96B"/>
          </a:solidFill>
          <a:ln w="12700">
            <a:solidFill>
              <a:srgbClr val="FAFAFA"/>
            </a:solidFill>
            <a:prstDash val="solid"/>
          </a:ln>
        </p:spPr>
      </p:sp>
      <p:sp>
        <p:nvSpPr>
          <p:cNvPr id="20" name="Text 18"/>
          <p:cNvSpPr/>
          <p:nvPr/>
        </p:nvSpPr>
        <p:spPr>
          <a:xfrm>
            <a:off x="5486400" y="217627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E</a:t>
            </a:r>
            <a:endParaRPr lang="en-US" sz="1100" dirty="0"/>
          </a:p>
        </p:txBody>
      </p:sp>
      <p:sp>
        <p:nvSpPr>
          <p:cNvPr id="21" name="Text 19"/>
          <p:cNvSpPr/>
          <p:nvPr/>
        </p:nvSpPr>
        <p:spPr>
          <a:xfrm>
            <a:off x="5486400" y="233172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GUI</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Design</a:t>
            </a:r>
            <a:endParaRPr lang="en-US" sz="800" dirty="0"/>
          </a:p>
        </p:txBody>
      </p:sp>
      <p:sp>
        <p:nvSpPr>
          <p:cNvPr id="22" name="Shape 20"/>
          <p:cNvSpPr/>
          <p:nvPr/>
        </p:nvSpPr>
        <p:spPr>
          <a:xfrm>
            <a:off x="4434840" y="1828800"/>
            <a:ext cx="9144" cy="320040"/>
          </a:xfrm>
          <a:prstGeom prst="line">
            <a:avLst/>
          </a:prstGeom>
          <a:noFill/>
          <a:ln w="19050">
            <a:solidFill>
              <a:srgbClr val="6B7A6F"/>
            </a:solidFill>
            <a:prstDash val="solid"/>
            <a:headEnd type="none"/>
            <a:tailEnd type="arrow"/>
          </a:ln>
        </p:spPr>
      </p:sp>
      <p:sp>
        <p:nvSpPr>
          <p:cNvPr id="23" name="Shape 21"/>
          <p:cNvSpPr/>
          <p:nvPr/>
        </p:nvSpPr>
        <p:spPr>
          <a:xfrm>
            <a:off x="5029200" y="1828800"/>
            <a:ext cx="777240" cy="320040"/>
          </a:xfrm>
          <a:prstGeom prst="line">
            <a:avLst/>
          </a:prstGeom>
          <a:noFill/>
          <a:ln w="19050">
            <a:solidFill>
              <a:srgbClr val="6B7A6F"/>
            </a:solidFill>
            <a:prstDash val="solid"/>
            <a:headEnd type="none"/>
            <a:tailEnd type="arrow"/>
          </a:ln>
        </p:spPr>
      </p:sp>
      <p:sp>
        <p:nvSpPr>
          <p:cNvPr id="24" name="Shape 22"/>
          <p:cNvSpPr/>
          <p:nvPr/>
        </p:nvSpPr>
        <p:spPr>
          <a:xfrm>
            <a:off x="4663440" y="2880360"/>
            <a:ext cx="1188720" cy="411480"/>
          </a:xfrm>
          <a:prstGeom prst="roundRect">
            <a:avLst>
              <a:gd name="adj" fmla="val 17778"/>
            </a:avLst>
          </a:prstGeom>
          <a:solidFill>
            <a:srgbClr val="C8A96B"/>
          </a:solidFill>
          <a:ln w="12700">
            <a:solidFill>
              <a:srgbClr val="FAFAFA"/>
            </a:solidFill>
            <a:prstDash val="solid"/>
          </a:ln>
        </p:spPr>
      </p:sp>
      <p:sp>
        <p:nvSpPr>
          <p:cNvPr id="25" name="Text 23"/>
          <p:cNvSpPr/>
          <p:nvPr/>
        </p:nvSpPr>
        <p:spPr>
          <a:xfrm>
            <a:off x="4663440" y="290779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F</a:t>
            </a:r>
            <a:endParaRPr lang="en-US" sz="1100" dirty="0"/>
          </a:p>
        </p:txBody>
      </p:sp>
      <p:sp>
        <p:nvSpPr>
          <p:cNvPr id="26" name="Text 24"/>
          <p:cNvSpPr/>
          <p:nvPr/>
        </p:nvSpPr>
        <p:spPr>
          <a:xfrm>
            <a:off x="4663440" y="306324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Booking</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Module</a:t>
            </a:r>
            <a:endParaRPr lang="en-US" sz="800" dirty="0"/>
          </a:p>
        </p:txBody>
      </p:sp>
      <p:sp>
        <p:nvSpPr>
          <p:cNvPr id="27" name="Shape 25"/>
          <p:cNvSpPr/>
          <p:nvPr/>
        </p:nvSpPr>
        <p:spPr>
          <a:xfrm>
            <a:off x="4434840" y="2560320"/>
            <a:ext cx="457200" cy="320040"/>
          </a:xfrm>
          <a:prstGeom prst="line">
            <a:avLst/>
          </a:prstGeom>
          <a:noFill/>
          <a:ln w="19050">
            <a:solidFill>
              <a:srgbClr val="6B7A6F"/>
            </a:solidFill>
            <a:prstDash val="solid"/>
            <a:headEnd type="none"/>
            <a:tailEnd type="arrow"/>
          </a:ln>
        </p:spPr>
      </p:sp>
      <p:sp>
        <p:nvSpPr>
          <p:cNvPr id="28" name="Shape 26"/>
          <p:cNvSpPr/>
          <p:nvPr/>
        </p:nvSpPr>
        <p:spPr>
          <a:xfrm>
            <a:off x="5257800" y="2560320"/>
            <a:ext cx="822960" cy="320040"/>
          </a:xfrm>
          <a:prstGeom prst="line">
            <a:avLst/>
          </a:prstGeom>
          <a:noFill/>
          <a:ln w="19050">
            <a:solidFill>
              <a:srgbClr val="6B7A6F"/>
            </a:solidFill>
            <a:prstDash val="solid"/>
            <a:headEnd type="none"/>
            <a:tailEnd type="arrow"/>
          </a:ln>
        </p:spPr>
      </p:sp>
      <p:sp>
        <p:nvSpPr>
          <p:cNvPr id="29" name="Shape 27"/>
          <p:cNvSpPr/>
          <p:nvPr/>
        </p:nvSpPr>
        <p:spPr>
          <a:xfrm>
            <a:off x="3474720" y="3611880"/>
            <a:ext cx="1188720" cy="411480"/>
          </a:xfrm>
          <a:prstGeom prst="roundRect">
            <a:avLst>
              <a:gd name="adj" fmla="val 17778"/>
            </a:avLst>
          </a:prstGeom>
          <a:solidFill>
            <a:srgbClr val="C8A96B"/>
          </a:solidFill>
          <a:ln w="12700">
            <a:solidFill>
              <a:srgbClr val="FAFAFA"/>
            </a:solidFill>
            <a:prstDash val="solid"/>
          </a:ln>
        </p:spPr>
      </p:sp>
      <p:sp>
        <p:nvSpPr>
          <p:cNvPr id="30" name="Text 28"/>
          <p:cNvSpPr/>
          <p:nvPr/>
        </p:nvSpPr>
        <p:spPr>
          <a:xfrm>
            <a:off x="3474720" y="363931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G</a:t>
            </a:r>
            <a:endParaRPr lang="en-US" sz="1100" dirty="0"/>
          </a:p>
        </p:txBody>
      </p:sp>
      <p:sp>
        <p:nvSpPr>
          <p:cNvPr id="31" name="Text 29"/>
          <p:cNvSpPr/>
          <p:nvPr/>
        </p:nvSpPr>
        <p:spPr>
          <a:xfrm>
            <a:off x="3474720" y="379476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Staff Schedule</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Module</a:t>
            </a:r>
            <a:endParaRPr lang="en-US" sz="800" dirty="0"/>
          </a:p>
        </p:txBody>
      </p:sp>
      <p:sp>
        <p:nvSpPr>
          <p:cNvPr id="32" name="Shape 30"/>
          <p:cNvSpPr/>
          <p:nvPr/>
        </p:nvSpPr>
        <p:spPr>
          <a:xfrm>
            <a:off x="5486400" y="3611880"/>
            <a:ext cx="1188720" cy="411480"/>
          </a:xfrm>
          <a:prstGeom prst="roundRect">
            <a:avLst>
              <a:gd name="adj" fmla="val 17778"/>
            </a:avLst>
          </a:prstGeom>
          <a:solidFill>
            <a:srgbClr val="C8A96B"/>
          </a:solidFill>
          <a:ln w="12700">
            <a:solidFill>
              <a:srgbClr val="FAFAFA"/>
            </a:solidFill>
            <a:prstDash val="solid"/>
          </a:ln>
        </p:spPr>
      </p:sp>
      <p:sp>
        <p:nvSpPr>
          <p:cNvPr id="33" name="Text 31"/>
          <p:cNvSpPr/>
          <p:nvPr/>
        </p:nvSpPr>
        <p:spPr>
          <a:xfrm>
            <a:off x="5486400" y="363931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H</a:t>
            </a:r>
            <a:endParaRPr lang="en-US" sz="1100" dirty="0"/>
          </a:p>
        </p:txBody>
      </p:sp>
      <p:sp>
        <p:nvSpPr>
          <p:cNvPr id="34" name="Text 32"/>
          <p:cNvSpPr/>
          <p:nvPr/>
        </p:nvSpPr>
        <p:spPr>
          <a:xfrm>
            <a:off x="5486400" y="379476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Manager/CSR</a:t>
            </a:r>
            <a:endParaRPr lang="en-US" sz="800" dirty="0"/>
          </a:p>
          <a:p>
            <a:pPr algn="ctr" indent="0" marL="0">
              <a:buNone/>
            </a:pPr>
            <a:r>
              <a:rPr lang="en-US" sz="800" dirty="0">
                <a:solidFill>
                  <a:srgbClr val="FAFAFA"/>
                </a:solidFill>
                <a:latin typeface="Calibri" pitchFamily="34" charset="0"/>
                <a:ea typeface="Calibri" pitchFamily="34" charset="-122"/>
                <a:cs typeface="Calibri" pitchFamily="34" charset="-120"/>
              </a:rPr>
              <a:t>Workspace</a:t>
            </a:r>
            <a:endParaRPr lang="en-US" sz="800" dirty="0"/>
          </a:p>
        </p:txBody>
      </p:sp>
      <p:sp>
        <p:nvSpPr>
          <p:cNvPr id="35" name="Shape 33"/>
          <p:cNvSpPr/>
          <p:nvPr/>
        </p:nvSpPr>
        <p:spPr>
          <a:xfrm>
            <a:off x="4069080" y="3291840"/>
            <a:ext cx="1188720" cy="320040"/>
          </a:xfrm>
          <a:prstGeom prst="line">
            <a:avLst/>
          </a:prstGeom>
          <a:noFill/>
          <a:ln w="19050">
            <a:solidFill>
              <a:srgbClr val="6B7A6F"/>
            </a:solidFill>
            <a:prstDash val="solid"/>
            <a:headEnd type="none"/>
            <a:tailEnd type="arrow"/>
          </a:ln>
        </p:spPr>
      </p:sp>
      <p:sp>
        <p:nvSpPr>
          <p:cNvPr id="36" name="Shape 34"/>
          <p:cNvSpPr/>
          <p:nvPr/>
        </p:nvSpPr>
        <p:spPr>
          <a:xfrm>
            <a:off x="5257800" y="3291840"/>
            <a:ext cx="822960" cy="320040"/>
          </a:xfrm>
          <a:prstGeom prst="line">
            <a:avLst/>
          </a:prstGeom>
          <a:noFill/>
          <a:ln w="19050">
            <a:solidFill>
              <a:srgbClr val="6B7A6F"/>
            </a:solidFill>
            <a:prstDash val="solid"/>
            <a:headEnd type="none"/>
            <a:tailEnd type="arrow"/>
          </a:ln>
        </p:spPr>
      </p:sp>
      <p:sp>
        <p:nvSpPr>
          <p:cNvPr id="37" name="Shape 35"/>
          <p:cNvSpPr/>
          <p:nvPr/>
        </p:nvSpPr>
        <p:spPr>
          <a:xfrm>
            <a:off x="4663440" y="4343400"/>
            <a:ext cx="1188720" cy="411480"/>
          </a:xfrm>
          <a:prstGeom prst="roundRect">
            <a:avLst>
              <a:gd name="adj" fmla="val 17778"/>
            </a:avLst>
          </a:prstGeom>
          <a:solidFill>
            <a:srgbClr val="6B7A6F"/>
          </a:solidFill>
          <a:ln w="12700">
            <a:solidFill>
              <a:srgbClr val="FAFAFA"/>
            </a:solidFill>
            <a:prstDash val="solid"/>
          </a:ln>
        </p:spPr>
      </p:sp>
      <p:sp>
        <p:nvSpPr>
          <p:cNvPr id="38" name="Text 36"/>
          <p:cNvSpPr/>
          <p:nvPr/>
        </p:nvSpPr>
        <p:spPr>
          <a:xfrm>
            <a:off x="4663440" y="437083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I</a:t>
            </a:r>
            <a:endParaRPr lang="en-US" sz="1100" dirty="0"/>
          </a:p>
        </p:txBody>
      </p:sp>
      <p:sp>
        <p:nvSpPr>
          <p:cNvPr id="39" name="Text 37"/>
          <p:cNvSpPr/>
          <p:nvPr/>
        </p:nvSpPr>
        <p:spPr>
          <a:xfrm>
            <a:off x="4663440" y="452628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Testing</a:t>
            </a:r>
            <a:endParaRPr lang="en-US" sz="800" dirty="0"/>
          </a:p>
        </p:txBody>
      </p:sp>
      <p:sp>
        <p:nvSpPr>
          <p:cNvPr id="40" name="Shape 38"/>
          <p:cNvSpPr/>
          <p:nvPr/>
        </p:nvSpPr>
        <p:spPr>
          <a:xfrm>
            <a:off x="4069080" y="4023360"/>
            <a:ext cx="822960" cy="320040"/>
          </a:xfrm>
          <a:prstGeom prst="line">
            <a:avLst/>
          </a:prstGeom>
          <a:noFill/>
          <a:ln w="19050">
            <a:solidFill>
              <a:srgbClr val="6B7A6F"/>
            </a:solidFill>
            <a:prstDash val="solid"/>
            <a:headEnd type="none"/>
            <a:tailEnd type="arrow"/>
          </a:ln>
        </p:spPr>
      </p:sp>
      <p:sp>
        <p:nvSpPr>
          <p:cNvPr id="41" name="Shape 39"/>
          <p:cNvSpPr/>
          <p:nvPr/>
        </p:nvSpPr>
        <p:spPr>
          <a:xfrm>
            <a:off x="5257800" y="4023360"/>
            <a:ext cx="822960" cy="320040"/>
          </a:xfrm>
          <a:prstGeom prst="line">
            <a:avLst/>
          </a:prstGeom>
          <a:noFill/>
          <a:ln w="19050">
            <a:solidFill>
              <a:srgbClr val="6B7A6F"/>
            </a:solidFill>
            <a:prstDash val="solid"/>
            <a:headEnd type="none"/>
            <a:tailEnd type="arrow"/>
          </a:ln>
        </p:spPr>
      </p:sp>
      <p:sp>
        <p:nvSpPr>
          <p:cNvPr id="42" name="Shape 40"/>
          <p:cNvSpPr/>
          <p:nvPr/>
        </p:nvSpPr>
        <p:spPr>
          <a:xfrm>
            <a:off x="4663440" y="4892040"/>
            <a:ext cx="1188720" cy="411480"/>
          </a:xfrm>
          <a:prstGeom prst="roundRect">
            <a:avLst>
              <a:gd name="adj" fmla="val 17778"/>
            </a:avLst>
          </a:prstGeom>
          <a:solidFill>
            <a:srgbClr val="6B7A6F"/>
          </a:solidFill>
          <a:ln w="12700">
            <a:solidFill>
              <a:srgbClr val="FAFAFA"/>
            </a:solidFill>
            <a:prstDash val="solid"/>
          </a:ln>
        </p:spPr>
      </p:sp>
      <p:sp>
        <p:nvSpPr>
          <p:cNvPr id="43" name="Text 41"/>
          <p:cNvSpPr/>
          <p:nvPr/>
        </p:nvSpPr>
        <p:spPr>
          <a:xfrm>
            <a:off x="4663440" y="491947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J</a:t>
            </a:r>
            <a:endParaRPr lang="en-US" sz="1100" dirty="0"/>
          </a:p>
        </p:txBody>
      </p:sp>
      <p:sp>
        <p:nvSpPr>
          <p:cNvPr id="44" name="Text 42"/>
          <p:cNvSpPr/>
          <p:nvPr/>
        </p:nvSpPr>
        <p:spPr>
          <a:xfrm>
            <a:off x="4663440" y="507492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Documentation</a:t>
            </a:r>
            <a:endParaRPr lang="en-US" sz="800" dirty="0"/>
          </a:p>
        </p:txBody>
      </p:sp>
      <p:sp>
        <p:nvSpPr>
          <p:cNvPr id="45" name="Shape 43"/>
          <p:cNvSpPr/>
          <p:nvPr/>
        </p:nvSpPr>
        <p:spPr>
          <a:xfrm>
            <a:off x="5257800" y="4754880"/>
            <a:ext cx="9144" cy="137160"/>
          </a:xfrm>
          <a:prstGeom prst="line">
            <a:avLst/>
          </a:prstGeom>
          <a:noFill/>
          <a:ln w="19050">
            <a:solidFill>
              <a:srgbClr val="6B7A6F"/>
            </a:solidFill>
            <a:prstDash val="solid"/>
            <a:headEnd type="none"/>
            <a:tailEnd type="arrow"/>
          </a:ln>
        </p:spPr>
      </p:sp>
      <p:sp>
        <p:nvSpPr>
          <p:cNvPr id="46" name="Shape 44"/>
          <p:cNvSpPr/>
          <p:nvPr/>
        </p:nvSpPr>
        <p:spPr>
          <a:xfrm>
            <a:off x="6766560" y="4892040"/>
            <a:ext cx="1188720" cy="411480"/>
          </a:xfrm>
          <a:prstGeom prst="roundRect">
            <a:avLst>
              <a:gd name="adj" fmla="val 17778"/>
            </a:avLst>
          </a:prstGeom>
          <a:solidFill>
            <a:srgbClr val="6B7A6F"/>
          </a:solidFill>
          <a:ln w="12700">
            <a:solidFill>
              <a:srgbClr val="FAFAFA"/>
            </a:solidFill>
            <a:prstDash val="solid"/>
          </a:ln>
        </p:spPr>
      </p:sp>
      <p:sp>
        <p:nvSpPr>
          <p:cNvPr id="47" name="Text 45"/>
          <p:cNvSpPr/>
          <p:nvPr/>
        </p:nvSpPr>
        <p:spPr>
          <a:xfrm>
            <a:off x="6766560" y="4919472"/>
            <a:ext cx="1188720" cy="182880"/>
          </a:xfrm>
          <a:prstGeom prst="rect">
            <a:avLst/>
          </a:prstGeom>
          <a:noFill/>
          <a:ln/>
        </p:spPr>
        <p:txBody>
          <a:bodyPr wrap="square" rtlCol="0" anchor="ctr"/>
          <a:lstStyle/>
          <a:p>
            <a:pPr algn="ctr" indent="0" marL="0">
              <a:buNone/>
            </a:pPr>
            <a:r>
              <a:rPr lang="en-US" sz="1100" b="1" dirty="0">
                <a:solidFill>
                  <a:srgbClr val="FAFAFA"/>
                </a:solidFill>
                <a:latin typeface="Calibri" pitchFamily="34" charset="0"/>
                <a:ea typeface="Calibri" pitchFamily="34" charset="-122"/>
                <a:cs typeface="Calibri" pitchFamily="34" charset="-120"/>
              </a:rPr>
              <a:t>K</a:t>
            </a:r>
            <a:endParaRPr lang="en-US" sz="1100" dirty="0"/>
          </a:p>
        </p:txBody>
      </p:sp>
      <p:sp>
        <p:nvSpPr>
          <p:cNvPr id="48" name="Text 46"/>
          <p:cNvSpPr/>
          <p:nvPr/>
        </p:nvSpPr>
        <p:spPr>
          <a:xfrm>
            <a:off x="6766560" y="5074920"/>
            <a:ext cx="1188720" cy="201168"/>
          </a:xfrm>
          <a:prstGeom prst="rect">
            <a:avLst/>
          </a:prstGeom>
          <a:noFill/>
          <a:ln/>
        </p:spPr>
        <p:txBody>
          <a:bodyPr wrap="square" rtlCol="0" anchor="ctr"/>
          <a:lstStyle/>
          <a:p>
            <a:pPr algn="ctr" indent="0" marL="0">
              <a:buNone/>
            </a:pPr>
            <a:r>
              <a:rPr lang="en-US" sz="800" dirty="0">
                <a:solidFill>
                  <a:srgbClr val="FAFAFA"/>
                </a:solidFill>
                <a:latin typeface="Calibri" pitchFamily="34" charset="0"/>
                <a:ea typeface="Calibri" pitchFamily="34" charset="-122"/>
                <a:cs typeface="Calibri" pitchFamily="34" charset="-120"/>
              </a:rPr>
              <a:t>Presentation</a:t>
            </a:r>
            <a:endParaRPr lang="en-US" sz="800" dirty="0"/>
          </a:p>
        </p:txBody>
      </p:sp>
      <p:sp>
        <p:nvSpPr>
          <p:cNvPr id="49" name="Shape 47"/>
          <p:cNvSpPr/>
          <p:nvPr/>
        </p:nvSpPr>
        <p:spPr>
          <a:xfrm>
            <a:off x="5852160" y="5102352"/>
            <a:ext cx="914400" cy="9144"/>
          </a:xfrm>
          <a:prstGeom prst="line">
            <a:avLst/>
          </a:prstGeom>
          <a:noFill/>
          <a:ln w="19050">
            <a:solidFill>
              <a:srgbClr val="6B7A6F"/>
            </a:solidFill>
            <a:prstDash val="solid"/>
            <a:headEnd type="none"/>
            <a:tailEnd type="arrow"/>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Cost-Benefit Analysis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Investment vs value</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4023360" cy="2926080"/>
          </a:xfrm>
          <a:prstGeom prst="rect">
            <a:avLst/>
          </a:prstGeom>
          <a:solidFill>
            <a:srgbClr val="FAFAFA"/>
          </a:solidFill>
          <a:ln w="19050">
            <a:solidFill>
              <a:srgbClr val="C8A96B"/>
            </a:solidFill>
            <a:prstDash val="solid"/>
          </a:ln>
        </p:spPr>
      </p:sp>
      <p:sp>
        <p:nvSpPr>
          <p:cNvPr id="6" name="Text 4"/>
          <p:cNvSpPr/>
          <p:nvPr/>
        </p:nvSpPr>
        <p:spPr>
          <a:xfrm>
            <a:off x="640080" y="1463040"/>
            <a:ext cx="3657600" cy="365760"/>
          </a:xfrm>
          <a:prstGeom prst="rect">
            <a:avLst/>
          </a:prstGeom>
          <a:noFill/>
          <a:ln/>
        </p:spPr>
        <p:txBody>
          <a:bodyPr wrap="square" rtlCol="0" anchor="ctr"/>
          <a:lstStyle/>
          <a:p>
            <a:pPr indent="0" marL="0">
              <a:buNone/>
            </a:pPr>
            <a:r>
              <a:rPr lang="en-US" sz="1800" b="1" dirty="0">
                <a:solidFill>
                  <a:srgbClr val="163A2B"/>
                </a:solidFill>
                <a:latin typeface="Calibri" pitchFamily="34" charset="0"/>
                <a:ea typeface="Calibri" pitchFamily="34" charset="-122"/>
                <a:cs typeface="Calibri" pitchFamily="34" charset="-120"/>
              </a:rPr>
              <a:t>Costs</a:t>
            </a:r>
            <a:endParaRPr lang="en-US" sz="1800" dirty="0"/>
          </a:p>
        </p:txBody>
      </p:sp>
      <p:sp>
        <p:nvSpPr>
          <p:cNvPr id="7" name="Text 5"/>
          <p:cNvSpPr/>
          <p:nvPr/>
        </p:nvSpPr>
        <p:spPr>
          <a:xfrm>
            <a:off x="640080" y="187452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Development time &amp; labor</a:t>
            </a:r>
            <a:endParaRPr lang="en-US" sz="1400" dirty="0"/>
          </a:p>
        </p:txBody>
      </p:sp>
      <p:sp>
        <p:nvSpPr>
          <p:cNvPr id="8" name="Text 6"/>
          <p:cNvSpPr/>
          <p:nvPr/>
        </p:nvSpPr>
        <p:spPr>
          <a:xfrm>
            <a:off x="640080" y="222199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Hosting &amp; domain registration</a:t>
            </a:r>
            <a:endParaRPr lang="en-US" sz="1400" dirty="0"/>
          </a:p>
        </p:txBody>
      </p:sp>
      <p:sp>
        <p:nvSpPr>
          <p:cNvPr id="9" name="Text 7"/>
          <p:cNvSpPr/>
          <p:nvPr/>
        </p:nvSpPr>
        <p:spPr>
          <a:xfrm>
            <a:off x="640080" y="256946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Database / Supabase setup</a:t>
            </a:r>
            <a:endParaRPr lang="en-US" sz="1400" dirty="0"/>
          </a:p>
        </p:txBody>
      </p:sp>
      <p:sp>
        <p:nvSpPr>
          <p:cNvPr id="10" name="Text 8"/>
          <p:cNvSpPr/>
          <p:nvPr/>
        </p:nvSpPr>
        <p:spPr>
          <a:xfrm>
            <a:off x="640080" y="291693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UI design &amp; testing effort</a:t>
            </a:r>
            <a:endParaRPr lang="en-US" sz="1400" dirty="0"/>
          </a:p>
        </p:txBody>
      </p:sp>
      <p:sp>
        <p:nvSpPr>
          <p:cNvPr id="11" name="Text 9"/>
          <p:cNvSpPr/>
          <p:nvPr/>
        </p:nvSpPr>
        <p:spPr>
          <a:xfrm>
            <a:off x="640080" y="326440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Ongoing maintenance</a:t>
            </a:r>
            <a:endParaRPr lang="en-US" sz="1400" dirty="0"/>
          </a:p>
        </p:txBody>
      </p:sp>
      <p:sp>
        <p:nvSpPr>
          <p:cNvPr id="12" name="Text 10"/>
          <p:cNvSpPr/>
          <p:nvPr/>
        </p:nvSpPr>
        <p:spPr>
          <a:xfrm>
            <a:off x="640080" y="361188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Staff training &amp; onboarding</a:t>
            </a:r>
            <a:endParaRPr lang="en-US" sz="1400" dirty="0"/>
          </a:p>
        </p:txBody>
      </p:sp>
      <p:sp>
        <p:nvSpPr>
          <p:cNvPr id="13" name="Shape 11"/>
          <p:cNvSpPr/>
          <p:nvPr/>
        </p:nvSpPr>
        <p:spPr>
          <a:xfrm>
            <a:off x="4663440" y="1371600"/>
            <a:ext cx="4023360" cy="2926080"/>
          </a:xfrm>
          <a:prstGeom prst="rect">
            <a:avLst/>
          </a:prstGeom>
          <a:solidFill>
            <a:srgbClr val="FAFAFA"/>
          </a:solidFill>
          <a:ln w="19050">
            <a:solidFill>
              <a:srgbClr val="163A2B"/>
            </a:solidFill>
            <a:prstDash val="solid"/>
          </a:ln>
        </p:spPr>
      </p:sp>
      <p:sp>
        <p:nvSpPr>
          <p:cNvPr id="14" name="Text 12"/>
          <p:cNvSpPr/>
          <p:nvPr/>
        </p:nvSpPr>
        <p:spPr>
          <a:xfrm>
            <a:off x="4846320" y="1463040"/>
            <a:ext cx="3657600" cy="365760"/>
          </a:xfrm>
          <a:prstGeom prst="rect">
            <a:avLst/>
          </a:prstGeom>
          <a:noFill/>
          <a:ln/>
        </p:spPr>
        <p:txBody>
          <a:bodyPr wrap="square" rtlCol="0" anchor="ctr"/>
          <a:lstStyle/>
          <a:p>
            <a:pPr indent="0" marL="0">
              <a:buNone/>
            </a:pPr>
            <a:r>
              <a:rPr lang="en-US" sz="1800" b="1" dirty="0">
                <a:solidFill>
                  <a:srgbClr val="163A2B"/>
                </a:solidFill>
                <a:latin typeface="Calibri" pitchFamily="34" charset="0"/>
                <a:ea typeface="Calibri" pitchFamily="34" charset="-122"/>
                <a:cs typeface="Calibri" pitchFamily="34" charset="-120"/>
              </a:rPr>
              <a:t>Benefits</a:t>
            </a:r>
            <a:endParaRPr lang="en-US" sz="1800" dirty="0"/>
          </a:p>
        </p:txBody>
      </p:sp>
      <p:sp>
        <p:nvSpPr>
          <p:cNvPr id="15" name="Text 13"/>
          <p:cNvSpPr/>
          <p:nvPr/>
        </p:nvSpPr>
        <p:spPr>
          <a:xfrm>
            <a:off x="640080" y="187452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Faster booking process</a:t>
            </a:r>
            <a:endParaRPr lang="en-US" sz="1400" dirty="0"/>
          </a:p>
        </p:txBody>
      </p:sp>
      <p:sp>
        <p:nvSpPr>
          <p:cNvPr id="16" name="Text 14"/>
          <p:cNvSpPr/>
          <p:nvPr/>
        </p:nvSpPr>
        <p:spPr>
          <a:xfrm>
            <a:off x="640080" y="222199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Fewer scheduling mistakes</a:t>
            </a:r>
            <a:endParaRPr lang="en-US" sz="1400" dirty="0"/>
          </a:p>
        </p:txBody>
      </p:sp>
      <p:sp>
        <p:nvSpPr>
          <p:cNvPr id="17" name="Text 15"/>
          <p:cNvSpPr/>
          <p:nvPr/>
        </p:nvSpPr>
        <p:spPr>
          <a:xfrm>
            <a:off x="640080" y="256946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Better staff coordination</a:t>
            </a:r>
            <a:endParaRPr lang="en-US" sz="1400" dirty="0"/>
          </a:p>
        </p:txBody>
      </p:sp>
      <p:sp>
        <p:nvSpPr>
          <p:cNvPr id="18" name="Text 16"/>
          <p:cNvSpPr/>
          <p:nvPr/>
        </p:nvSpPr>
        <p:spPr>
          <a:xfrm>
            <a:off x="640080" y="291693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Better customer experience</a:t>
            </a:r>
            <a:endParaRPr lang="en-US" sz="1400" dirty="0"/>
          </a:p>
        </p:txBody>
      </p:sp>
      <p:sp>
        <p:nvSpPr>
          <p:cNvPr id="19" name="Text 17"/>
          <p:cNvSpPr/>
          <p:nvPr/>
        </p:nvSpPr>
        <p:spPr>
          <a:xfrm>
            <a:off x="640080" y="326440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More professional image</a:t>
            </a:r>
            <a:endParaRPr lang="en-US" sz="1400" dirty="0"/>
          </a:p>
        </p:txBody>
      </p:sp>
      <p:sp>
        <p:nvSpPr>
          <p:cNvPr id="20" name="Text 18"/>
          <p:cNvSpPr/>
          <p:nvPr/>
        </p:nvSpPr>
        <p:spPr>
          <a:xfrm>
            <a:off x="640080" y="361188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Easier management &amp; reporting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Estimated Costs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Realistic student-project budget</a:t>
            </a:r>
            <a:endParaRPr lang="en-US" sz="1600" dirty="0"/>
          </a:p>
        </p:txBody>
      </p:sp>
      <p:sp>
        <p:nvSpPr>
          <p:cNvPr id="4" name="Shape 2"/>
          <p:cNvSpPr/>
          <p:nvPr/>
        </p:nvSpPr>
        <p:spPr>
          <a:xfrm>
            <a:off x="457200" y="1115568"/>
            <a:ext cx="1371600" cy="36576"/>
          </a:xfrm>
          <a:prstGeom prst="rect">
            <a:avLst/>
          </a:prstGeom>
          <a:solidFill>
            <a:srgbClr val="C8A96B"/>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371600" y="1463040"/>
          <a:ext cx="6400800" cy="2194560"/>
        </p:xfrm>
        <a:graphic>
          <a:graphicData uri="http://schemas.openxmlformats.org/drawingml/2006/table">
            <a:tbl>
              <a:tblPr/>
              <a:tblGrid>
                <a:gridCol w="3657600"/>
                <a:gridCol w="2743200"/>
              </a:tblGrid>
              <a:tr h="365760">
                <a:tc>
                  <a:txBody>
                    <a:bodyPr/>
                    <a:lstStyle/>
                    <a:p>
                      <a:pPr algn="l" indent="0" marL="0">
                        <a:buNone/>
                      </a:pPr>
                      <a:r>
                        <a:rPr lang="en-US" sz="1300" b="1" dirty="0">
                          <a:solidFill>
                            <a:srgbClr val="163A2B"/>
                          </a:solidFill>
                          <a:latin typeface="Calibri" pitchFamily="34" charset="0"/>
                          <a:ea typeface="Calibri" pitchFamily="34" charset="-122"/>
                          <a:cs typeface="Calibri" pitchFamily="34" charset="-120"/>
                        </a:rPr>
                        <a:t>Cost Item</a:t>
                      </a:r>
                      <a:endParaRPr lang="en-US" sz="13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300" b="1" dirty="0">
                          <a:solidFill>
                            <a:srgbClr val="163A2B"/>
                          </a:solidFill>
                          <a:latin typeface="Calibri" pitchFamily="34" charset="0"/>
                          <a:ea typeface="Calibri" pitchFamily="34" charset="-122"/>
                          <a:cs typeface="Calibri" pitchFamily="34" charset="-120"/>
                        </a:rPr>
                        <a:t>Estimated Amount</a:t>
                      </a:r>
                      <a:endParaRPr lang="en-US" sz="13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36576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Development (design + coding)</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₱40,000</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36576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Domain &amp; Hosting (yearly)</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₱1,500 – ₱5,000</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36576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Database / Backend Tools</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Free tier to paid plan</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36576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Maintenance (monthly, optional)</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₱2,000 – ₱5,000</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r h="365760">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Training / Setup</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c>
                  <a:txBody>
                    <a:bodyPr/>
                    <a:lstStyle/>
                    <a:p>
                      <a:pPr algn="l" indent="0" marL="0">
                        <a:buNone/>
                      </a:pPr>
                      <a:r>
                        <a:rPr lang="en-US" sz="1200" dirty="0">
                          <a:solidFill>
                            <a:srgbClr val="4A4A4A"/>
                          </a:solidFill>
                          <a:latin typeface="Calibri" pitchFamily="34" charset="0"/>
                          <a:ea typeface="Calibri" pitchFamily="34" charset="-122"/>
                          <a:cs typeface="Calibri" pitchFamily="34" charset="-120"/>
                        </a:rPr>
                        <a:t>Included or minimal</a:t>
                      </a:r>
                      <a:endParaRPr lang="en-US" sz="1200" dirty="0">
                        <a:latin typeface="Calibri" charset="0"/>
                        <a:ea typeface="Calibri" charset="0"/>
                        <a:cs typeface="Calibri" charset="0"/>
                      </a:endParaRPr>
                    </a:p>
                  </a:txBody>
                  <a:tcPr marL="91440" marR="91440" marT="45720" marB="45720" anchor="ctr">
                    <a:lnL w="6350" cap="flat" cmpd="sng" algn="ctr">
                      <a:solidFill>
                        <a:srgbClr val="F0ECE5"/>
                      </a:solidFill>
                      <a:prstDash val="solid"/>
                      <a:round/>
                      <a:headEnd type="none" w="med" len="med"/>
                      <a:tailEnd type="none" w="med" len="med"/>
                    </a:lnL>
                    <a:lnR w="6350" cap="flat" cmpd="sng" algn="ctr">
                      <a:solidFill>
                        <a:srgbClr val="F0ECE5"/>
                      </a:solidFill>
                      <a:prstDash val="solid"/>
                      <a:round/>
                      <a:headEnd type="none" w="med" len="med"/>
                      <a:tailEnd type="none" w="med" len="med"/>
                    </a:lnR>
                    <a:lnT w="6350" cap="flat" cmpd="sng" algn="ctr">
                      <a:solidFill>
                        <a:srgbClr val="F0ECE5"/>
                      </a:solidFill>
                      <a:prstDash val="solid"/>
                      <a:round/>
                      <a:headEnd type="none" w="med" len="med"/>
                      <a:tailEnd type="none" w="med" len="med"/>
                    </a:lnT>
                    <a:lnB w="6350" cap="flat" cmpd="sng" algn="ctr">
                      <a:solidFill>
                        <a:srgbClr val="F0ECE5"/>
                      </a:solidFill>
                      <a:prstDash val="solid"/>
                      <a:round/>
                      <a:headEnd type="none" w="med" len="med"/>
                      <a:tailEnd type="none" w="med" len="med"/>
                    </a:lnB>
                    <a:solidFill>
                      <a:srgbClr val="FAFAFA"/>
                    </a:solidFill>
                  </a:tcPr>
                </a:tc>
              </a:tr>
            </a:tbl>
          </a:graphicData>
        </a:graphic>
      </p:graphicFrame>
      <p:sp>
        <p:nvSpPr>
          <p:cNvPr id="6" name="Text 3"/>
          <p:cNvSpPr/>
          <p:nvPr/>
        </p:nvSpPr>
        <p:spPr>
          <a:xfrm>
            <a:off x="640080" y="4114800"/>
            <a:ext cx="7863840" cy="274320"/>
          </a:xfrm>
          <a:prstGeom prst="rect">
            <a:avLst/>
          </a:prstGeom>
          <a:noFill/>
          <a:ln/>
        </p:spPr>
        <p:txBody>
          <a:bodyPr wrap="square" rtlCol="0" anchor="ctr"/>
          <a:lstStyle/>
          <a:p>
            <a:pPr algn="ctr" indent="0" marL="0">
              <a:buNone/>
            </a:pPr>
            <a:r>
              <a:rPr lang="en-US" sz="1100" i="1" dirty="0">
                <a:solidFill>
                  <a:srgbClr val="6B7A6F"/>
                </a:solidFill>
                <a:latin typeface="Calibri" pitchFamily="34" charset="0"/>
                <a:ea typeface="Calibri" pitchFamily="34" charset="-122"/>
                <a:cs typeface="Calibri" pitchFamily="34" charset="-120"/>
              </a:rPr>
              <a:t>Note: Costs are estimates and may vary depending on actual deployment needs.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Expected Benefits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Tangible and intangible value</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4023360" cy="2743200"/>
          </a:xfrm>
          <a:prstGeom prst="rect">
            <a:avLst/>
          </a:prstGeom>
          <a:solidFill>
            <a:srgbClr val="FAFAFA"/>
          </a:solidFill>
          <a:ln w="19050">
            <a:solidFill>
              <a:srgbClr val="C8A96B"/>
            </a:solidFill>
            <a:prstDash val="solid"/>
          </a:ln>
        </p:spPr>
      </p:sp>
      <p:sp>
        <p:nvSpPr>
          <p:cNvPr id="6" name="Text 4"/>
          <p:cNvSpPr/>
          <p:nvPr/>
        </p:nvSpPr>
        <p:spPr>
          <a:xfrm>
            <a:off x="640080" y="1463040"/>
            <a:ext cx="3657600" cy="365760"/>
          </a:xfrm>
          <a:prstGeom prst="rect">
            <a:avLst/>
          </a:prstGeom>
          <a:noFill/>
          <a:ln/>
        </p:spPr>
        <p:txBody>
          <a:bodyPr wrap="square" rtlCol="0" anchor="ctr"/>
          <a:lstStyle/>
          <a:p>
            <a:pPr indent="0" marL="0">
              <a:buNone/>
            </a:pPr>
            <a:r>
              <a:rPr lang="en-US" sz="1800" b="1" dirty="0">
                <a:solidFill>
                  <a:srgbClr val="163A2B"/>
                </a:solidFill>
                <a:latin typeface="Calibri" pitchFamily="34" charset="0"/>
                <a:ea typeface="Calibri" pitchFamily="34" charset="-122"/>
                <a:cs typeface="Calibri" pitchFamily="34" charset="-120"/>
              </a:rPr>
              <a:t>Tangible Benefits</a:t>
            </a:r>
            <a:endParaRPr lang="en-US" sz="1800" dirty="0"/>
          </a:p>
        </p:txBody>
      </p:sp>
      <p:sp>
        <p:nvSpPr>
          <p:cNvPr id="7" name="Text 5"/>
          <p:cNvSpPr/>
          <p:nvPr/>
        </p:nvSpPr>
        <p:spPr>
          <a:xfrm>
            <a:off x="640080" y="187452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Reduced manual work for front desk staff</a:t>
            </a:r>
            <a:endParaRPr lang="en-US" sz="1400" dirty="0"/>
          </a:p>
        </p:txBody>
      </p:sp>
      <p:sp>
        <p:nvSpPr>
          <p:cNvPr id="8" name="Text 6"/>
          <p:cNvSpPr/>
          <p:nvPr/>
        </p:nvSpPr>
        <p:spPr>
          <a:xfrm>
            <a:off x="640080" y="222199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Faster booking confirmation for customers</a:t>
            </a:r>
            <a:endParaRPr lang="en-US" sz="1400" dirty="0"/>
          </a:p>
        </p:txBody>
      </p:sp>
      <p:sp>
        <p:nvSpPr>
          <p:cNvPr id="9" name="Text 7"/>
          <p:cNvSpPr/>
          <p:nvPr/>
        </p:nvSpPr>
        <p:spPr>
          <a:xfrm>
            <a:off x="640080" y="256946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Better use of staff time and schedules</a:t>
            </a:r>
            <a:endParaRPr lang="en-US" sz="1400" dirty="0"/>
          </a:p>
        </p:txBody>
      </p:sp>
      <p:sp>
        <p:nvSpPr>
          <p:cNvPr id="10" name="Text 8"/>
          <p:cNvSpPr/>
          <p:nvPr/>
        </p:nvSpPr>
        <p:spPr>
          <a:xfrm>
            <a:off x="640080" y="291693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Better appointment tracking and history</a:t>
            </a:r>
            <a:endParaRPr lang="en-US" sz="1400" dirty="0"/>
          </a:p>
        </p:txBody>
      </p:sp>
      <p:sp>
        <p:nvSpPr>
          <p:cNvPr id="11" name="Text 9"/>
          <p:cNvSpPr/>
          <p:nvPr/>
        </p:nvSpPr>
        <p:spPr>
          <a:xfrm>
            <a:off x="640080" y="326440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Potential increase in online bookings</a:t>
            </a:r>
            <a:endParaRPr lang="en-US" sz="1400" dirty="0"/>
          </a:p>
        </p:txBody>
      </p:sp>
      <p:sp>
        <p:nvSpPr>
          <p:cNvPr id="12" name="Shape 10"/>
          <p:cNvSpPr/>
          <p:nvPr/>
        </p:nvSpPr>
        <p:spPr>
          <a:xfrm>
            <a:off x="4663440" y="1371600"/>
            <a:ext cx="4023360" cy="2743200"/>
          </a:xfrm>
          <a:prstGeom prst="rect">
            <a:avLst/>
          </a:prstGeom>
          <a:solidFill>
            <a:srgbClr val="FAFAFA"/>
          </a:solidFill>
          <a:ln w="19050">
            <a:solidFill>
              <a:srgbClr val="163A2B"/>
            </a:solidFill>
            <a:prstDash val="solid"/>
          </a:ln>
        </p:spPr>
      </p:sp>
      <p:sp>
        <p:nvSpPr>
          <p:cNvPr id="13" name="Text 11"/>
          <p:cNvSpPr/>
          <p:nvPr/>
        </p:nvSpPr>
        <p:spPr>
          <a:xfrm>
            <a:off x="4846320" y="1463040"/>
            <a:ext cx="3657600" cy="365760"/>
          </a:xfrm>
          <a:prstGeom prst="rect">
            <a:avLst/>
          </a:prstGeom>
          <a:noFill/>
          <a:ln/>
        </p:spPr>
        <p:txBody>
          <a:bodyPr wrap="square" rtlCol="0" anchor="ctr"/>
          <a:lstStyle/>
          <a:p>
            <a:pPr indent="0" marL="0">
              <a:buNone/>
            </a:pPr>
            <a:r>
              <a:rPr lang="en-US" sz="1800" b="1" dirty="0">
                <a:solidFill>
                  <a:srgbClr val="163A2B"/>
                </a:solidFill>
                <a:latin typeface="Calibri" pitchFamily="34" charset="0"/>
                <a:ea typeface="Calibri" pitchFamily="34" charset="-122"/>
                <a:cs typeface="Calibri" pitchFamily="34" charset="-120"/>
              </a:rPr>
              <a:t>Intangible Benefits</a:t>
            </a:r>
            <a:endParaRPr lang="en-US" sz="1800" dirty="0"/>
          </a:p>
        </p:txBody>
      </p:sp>
      <p:sp>
        <p:nvSpPr>
          <p:cNvPr id="14" name="Text 12"/>
          <p:cNvSpPr/>
          <p:nvPr/>
        </p:nvSpPr>
        <p:spPr>
          <a:xfrm>
            <a:off x="640080" y="187452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Better customer trust and satisfaction</a:t>
            </a:r>
            <a:endParaRPr lang="en-US" sz="1400" dirty="0"/>
          </a:p>
        </p:txBody>
      </p:sp>
      <p:sp>
        <p:nvSpPr>
          <p:cNvPr id="15" name="Text 13"/>
          <p:cNvSpPr/>
          <p:nvPr/>
        </p:nvSpPr>
        <p:spPr>
          <a:xfrm>
            <a:off x="640080" y="222199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More professional business image</a:t>
            </a:r>
            <a:endParaRPr lang="en-US" sz="1400" dirty="0"/>
          </a:p>
        </p:txBody>
      </p:sp>
      <p:sp>
        <p:nvSpPr>
          <p:cNvPr id="16" name="Text 14"/>
          <p:cNvSpPr/>
          <p:nvPr/>
        </p:nvSpPr>
        <p:spPr>
          <a:xfrm>
            <a:off x="640080" y="256946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Less stress for staff and managers</a:t>
            </a:r>
            <a:endParaRPr lang="en-US" sz="1400" dirty="0"/>
          </a:p>
        </p:txBody>
      </p:sp>
      <p:sp>
        <p:nvSpPr>
          <p:cNvPr id="17" name="Text 15"/>
          <p:cNvSpPr/>
          <p:nvPr/>
        </p:nvSpPr>
        <p:spPr>
          <a:xfrm>
            <a:off x="640080" y="291693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Improved decision-making with clear data</a:t>
            </a:r>
            <a:endParaRPr lang="en-US" sz="1400" dirty="0"/>
          </a:p>
        </p:txBody>
      </p:sp>
      <p:sp>
        <p:nvSpPr>
          <p:cNvPr id="18" name="Text 16"/>
          <p:cNvSpPr/>
          <p:nvPr/>
        </p:nvSpPr>
        <p:spPr>
          <a:xfrm>
            <a:off x="640080" y="326440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Better service consistency across branches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GUI Proposal: Public Home Page</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Customer-facing landing page</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8229600" cy="457200"/>
          </a:xfrm>
          <a:prstGeom prst="rect">
            <a:avLst/>
          </a:prstGeom>
          <a:solidFill>
            <a:srgbClr val="FAFAFA"/>
          </a:solidFill>
          <a:ln w="6350">
            <a:solidFill>
              <a:srgbClr val="F0ECE5"/>
            </a:solidFill>
            <a:prstDash val="solid"/>
          </a:ln>
        </p:spPr>
      </p:sp>
      <p:sp>
        <p:nvSpPr>
          <p:cNvPr id="6" name="Text 4"/>
          <p:cNvSpPr/>
          <p:nvPr/>
        </p:nvSpPr>
        <p:spPr>
          <a:xfrm>
            <a:off x="594360" y="1417320"/>
            <a:ext cx="219456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Hero Section</a:t>
            </a:r>
            <a:endParaRPr lang="en-US" sz="1200" dirty="0"/>
          </a:p>
        </p:txBody>
      </p:sp>
      <p:sp>
        <p:nvSpPr>
          <p:cNvPr id="7" name="Text 5"/>
          <p:cNvSpPr/>
          <p:nvPr/>
        </p:nvSpPr>
        <p:spPr>
          <a:xfrm>
            <a:off x="2926080" y="1417320"/>
            <a:ext cx="557784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Welcoming spa imagery with brand logo and tagline</a:t>
            </a:r>
            <a:endParaRPr lang="en-US" sz="1200" dirty="0"/>
          </a:p>
        </p:txBody>
      </p:sp>
      <p:sp>
        <p:nvSpPr>
          <p:cNvPr id="8" name="Shape 6"/>
          <p:cNvSpPr/>
          <p:nvPr/>
        </p:nvSpPr>
        <p:spPr>
          <a:xfrm>
            <a:off x="457200" y="1874520"/>
            <a:ext cx="8229600" cy="457200"/>
          </a:xfrm>
          <a:prstGeom prst="rect">
            <a:avLst/>
          </a:prstGeom>
          <a:solidFill>
            <a:srgbClr val="FAFAFA"/>
          </a:solidFill>
          <a:ln w="6350">
            <a:solidFill>
              <a:srgbClr val="F0ECE5"/>
            </a:solidFill>
            <a:prstDash val="solid"/>
          </a:ln>
        </p:spPr>
      </p:sp>
      <p:sp>
        <p:nvSpPr>
          <p:cNvPr id="9" name="Text 7"/>
          <p:cNvSpPr/>
          <p:nvPr/>
        </p:nvSpPr>
        <p:spPr>
          <a:xfrm>
            <a:off x="594360" y="1920240"/>
            <a:ext cx="219456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Book Appointment CTA</a:t>
            </a:r>
            <a:endParaRPr lang="en-US" sz="1200" dirty="0"/>
          </a:p>
        </p:txBody>
      </p:sp>
      <p:sp>
        <p:nvSpPr>
          <p:cNvPr id="10" name="Text 8"/>
          <p:cNvSpPr/>
          <p:nvPr/>
        </p:nvSpPr>
        <p:spPr>
          <a:xfrm>
            <a:off x="2926080" y="1920240"/>
            <a:ext cx="557784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Prominent button to start the booking wizard</a:t>
            </a:r>
            <a:endParaRPr lang="en-US" sz="1200" dirty="0"/>
          </a:p>
        </p:txBody>
      </p:sp>
      <p:sp>
        <p:nvSpPr>
          <p:cNvPr id="11" name="Shape 9"/>
          <p:cNvSpPr/>
          <p:nvPr/>
        </p:nvSpPr>
        <p:spPr>
          <a:xfrm>
            <a:off x="457200" y="2377440"/>
            <a:ext cx="8229600" cy="457200"/>
          </a:xfrm>
          <a:prstGeom prst="rect">
            <a:avLst/>
          </a:prstGeom>
          <a:solidFill>
            <a:srgbClr val="FAFAFA"/>
          </a:solidFill>
          <a:ln w="6350">
            <a:solidFill>
              <a:srgbClr val="F0ECE5"/>
            </a:solidFill>
            <a:prstDash val="solid"/>
          </a:ln>
        </p:spPr>
      </p:sp>
      <p:sp>
        <p:nvSpPr>
          <p:cNvPr id="12" name="Text 10"/>
          <p:cNvSpPr/>
          <p:nvPr/>
        </p:nvSpPr>
        <p:spPr>
          <a:xfrm>
            <a:off x="594360" y="2423160"/>
            <a:ext cx="219456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Services Preview</a:t>
            </a:r>
            <a:endParaRPr lang="en-US" sz="1200" dirty="0"/>
          </a:p>
        </p:txBody>
      </p:sp>
      <p:sp>
        <p:nvSpPr>
          <p:cNvPr id="13" name="Text 11"/>
          <p:cNvSpPr/>
          <p:nvPr/>
        </p:nvSpPr>
        <p:spPr>
          <a:xfrm>
            <a:off x="2926080" y="2423160"/>
            <a:ext cx="557784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Grid of featured spa services with images and descriptions</a:t>
            </a:r>
            <a:endParaRPr lang="en-US" sz="1200" dirty="0"/>
          </a:p>
        </p:txBody>
      </p:sp>
      <p:sp>
        <p:nvSpPr>
          <p:cNvPr id="14" name="Shape 12"/>
          <p:cNvSpPr/>
          <p:nvPr/>
        </p:nvSpPr>
        <p:spPr>
          <a:xfrm>
            <a:off x="457200" y="2880360"/>
            <a:ext cx="8229600" cy="457200"/>
          </a:xfrm>
          <a:prstGeom prst="rect">
            <a:avLst/>
          </a:prstGeom>
          <a:solidFill>
            <a:srgbClr val="FAFAFA"/>
          </a:solidFill>
          <a:ln w="6350">
            <a:solidFill>
              <a:srgbClr val="F0ECE5"/>
            </a:solidFill>
            <a:prstDash val="solid"/>
          </a:ln>
        </p:spPr>
      </p:sp>
      <p:sp>
        <p:nvSpPr>
          <p:cNvPr id="15" name="Text 13"/>
          <p:cNvSpPr/>
          <p:nvPr/>
        </p:nvSpPr>
        <p:spPr>
          <a:xfrm>
            <a:off x="594360" y="2926080"/>
            <a:ext cx="219456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Branch / Location</a:t>
            </a:r>
            <a:endParaRPr lang="en-US" sz="1200" dirty="0"/>
          </a:p>
        </p:txBody>
      </p:sp>
      <p:sp>
        <p:nvSpPr>
          <p:cNvPr id="16" name="Text 14"/>
          <p:cNvSpPr/>
          <p:nvPr/>
        </p:nvSpPr>
        <p:spPr>
          <a:xfrm>
            <a:off x="2926080" y="2926080"/>
            <a:ext cx="557784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Branch cards with addresses and contact details</a:t>
            </a:r>
            <a:endParaRPr lang="en-US" sz="1200" dirty="0"/>
          </a:p>
        </p:txBody>
      </p:sp>
      <p:sp>
        <p:nvSpPr>
          <p:cNvPr id="17" name="Shape 15"/>
          <p:cNvSpPr/>
          <p:nvPr/>
        </p:nvSpPr>
        <p:spPr>
          <a:xfrm>
            <a:off x="457200" y="3383280"/>
            <a:ext cx="8229600" cy="457200"/>
          </a:xfrm>
          <a:prstGeom prst="rect">
            <a:avLst/>
          </a:prstGeom>
          <a:solidFill>
            <a:srgbClr val="FAFAFA"/>
          </a:solidFill>
          <a:ln w="6350">
            <a:solidFill>
              <a:srgbClr val="F0ECE5"/>
            </a:solidFill>
            <a:prstDash val="solid"/>
          </a:ln>
        </p:spPr>
      </p:sp>
      <p:sp>
        <p:nvSpPr>
          <p:cNvPr id="18" name="Text 16"/>
          <p:cNvSpPr/>
          <p:nvPr/>
        </p:nvSpPr>
        <p:spPr>
          <a:xfrm>
            <a:off x="594360" y="3429000"/>
            <a:ext cx="219456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Trust Section</a:t>
            </a:r>
            <a:endParaRPr lang="en-US" sz="1200" dirty="0"/>
          </a:p>
        </p:txBody>
      </p:sp>
      <p:sp>
        <p:nvSpPr>
          <p:cNvPr id="19" name="Text 17"/>
          <p:cNvSpPr/>
          <p:nvPr/>
        </p:nvSpPr>
        <p:spPr>
          <a:xfrm>
            <a:off x="2926080" y="3429000"/>
            <a:ext cx="557784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Customer testimonials and spa certifications</a:t>
            </a:r>
            <a:endParaRPr lang="en-US" sz="1200" dirty="0"/>
          </a:p>
        </p:txBody>
      </p:sp>
      <p:sp>
        <p:nvSpPr>
          <p:cNvPr id="20" name="Shape 18"/>
          <p:cNvSpPr/>
          <p:nvPr/>
        </p:nvSpPr>
        <p:spPr>
          <a:xfrm>
            <a:off x="457200" y="3886200"/>
            <a:ext cx="8229600" cy="457200"/>
          </a:xfrm>
          <a:prstGeom prst="rect">
            <a:avLst/>
          </a:prstGeom>
          <a:solidFill>
            <a:srgbClr val="FAFAFA"/>
          </a:solidFill>
          <a:ln w="6350">
            <a:solidFill>
              <a:srgbClr val="F0ECE5"/>
            </a:solidFill>
            <a:prstDash val="solid"/>
          </a:ln>
        </p:spPr>
      </p:sp>
      <p:sp>
        <p:nvSpPr>
          <p:cNvPr id="21" name="Text 19"/>
          <p:cNvSpPr/>
          <p:nvPr/>
        </p:nvSpPr>
        <p:spPr>
          <a:xfrm>
            <a:off x="594360" y="3931920"/>
            <a:ext cx="219456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Contact / Footer</a:t>
            </a:r>
            <a:endParaRPr lang="en-US" sz="1200" dirty="0"/>
          </a:p>
        </p:txBody>
      </p:sp>
      <p:sp>
        <p:nvSpPr>
          <p:cNvPr id="22" name="Text 20"/>
          <p:cNvSpPr/>
          <p:nvPr/>
        </p:nvSpPr>
        <p:spPr>
          <a:xfrm>
            <a:off x="2926080" y="3931920"/>
            <a:ext cx="557784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Phone, email, social links, and business hours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GUI Proposal: Booking Wizard</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Step-by-step customer booking</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548640" y="1417320"/>
            <a:ext cx="320040" cy="320040"/>
          </a:xfrm>
          <a:prstGeom prst="ellipse">
            <a:avLst/>
          </a:prstGeom>
          <a:solidFill>
            <a:srgbClr val="C8A96B"/>
          </a:solidFill>
          <a:ln/>
        </p:spPr>
      </p:sp>
      <p:sp>
        <p:nvSpPr>
          <p:cNvPr id="6" name="Text 4"/>
          <p:cNvSpPr/>
          <p:nvPr/>
        </p:nvSpPr>
        <p:spPr>
          <a:xfrm>
            <a:off x="548640" y="1444752"/>
            <a:ext cx="320040" cy="274320"/>
          </a:xfrm>
          <a:prstGeom prst="rect">
            <a:avLst/>
          </a:prstGeom>
          <a:noFill/>
          <a:ln/>
        </p:spPr>
        <p:txBody>
          <a:bodyPr wrap="square" rtlCol="0" anchor="ctr"/>
          <a:lstStyle/>
          <a:p>
            <a:pPr algn="ctr" indent="0" marL="0">
              <a:buNone/>
            </a:pPr>
            <a:r>
              <a:rPr lang="en-US" sz="1200" b="1" dirty="0">
                <a:solidFill>
                  <a:srgbClr val="FAFAFA"/>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05840" y="1399032"/>
            <a:ext cx="2011680" cy="274320"/>
          </a:xfrm>
          <a:prstGeom prst="rect">
            <a:avLst/>
          </a:prstGeom>
          <a:noFill/>
          <a:ln/>
        </p:spPr>
        <p:txBody>
          <a:bodyPr wrap="square" rtlCol="0" anchor="ctr"/>
          <a:lstStyle/>
          <a:p>
            <a:pPr indent="0" marL="0">
              <a:buNone/>
            </a:pPr>
            <a:r>
              <a:rPr lang="en-US" sz="1300" b="1" dirty="0">
                <a:solidFill>
                  <a:srgbClr val="163A2B"/>
                </a:solidFill>
                <a:latin typeface="Calibri" pitchFamily="34" charset="0"/>
                <a:ea typeface="Calibri" pitchFamily="34" charset="-122"/>
                <a:cs typeface="Calibri" pitchFamily="34" charset="-120"/>
              </a:rPr>
              <a:t>Choose Service</a:t>
            </a:r>
            <a:endParaRPr lang="en-US" sz="1300" dirty="0"/>
          </a:p>
        </p:txBody>
      </p:sp>
      <p:sp>
        <p:nvSpPr>
          <p:cNvPr id="8" name="Text 6"/>
          <p:cNvSpPr/>
          <p:nvPr/>
        </p:nvSpPr>
        <p:spPr>
          <a:xfrm>
            <a:off x="3200400" y="1399032"/>
            <a:ext cx="5303520" cy="27432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Customer selects one or more spa services</a:t>
            </a:r>
            <a:endParaRPr lang="en-US" sz="1200" dirty="0"/>
          </a:p>
        </p:txBody>
      </p:sp>
      <p:sp>
        <p:nvSpPr>
          <p:cNvPr id="9" name="Shape 7"/>
          <p:cNvSpPr/>
          <p:nvPr/>
        </p:nvSpPr>
        <p:spPr>
          <a:xfrm>
            <a:off x="704088" y="1755648"/>
            <a:ext cx="9144" cy="164592"/>
          </a:xfrm>
          <a:prstGeom prst="line">
            <a:avLst/>
          </a:prstGeom>
          <a:noFill/>
          <a:ln w="25400">
            <a:solidFill>
              <a:srgbClr val="C8A96B"/>
            </a:solidFill>
            <a:prstDash val="solid"/>
          </a:ln>
        </p:spPr>
      </p:sp>
      <p:sp>
        <p:nvSpPr>
          <p:cNvPr id="10" name="Shape 8"/>
          <p:cNvSpPr/>
          <p:nvPr/>
        </p:nvSpPr>
        <p:spPr>
          <a:xfrm>
            <a:off x="548640" y="1920240"/>
            <a:ext cx="320040" cy="320040"/>
          </a:xfrm>
          <a:prstGeom prst="ellipse">
            <a:avLst/>
          </a:prstGeom>
          <a:solidFill>
            <a:srgbClr val="C8A96B"/>
          </a:solidFill>
          <a:ln/>
        </p:spPr>
      </p:sp>
      <p:sp>
        <p:nvSpPr>
          <p:cNvPr id="11" name="Text 9"/>
          <p:cNvSpPr/>
          <p:nvPr/>
        </p:nvSpPr>
        <p:spPr>
          <a:xfrm>
            <a:off x="548640" y="1947672"/>
            <a:ext cx="320040" cy="274320"/>
          </a:xfrm>
          <a:prstGeom prst="rect">
            <a:avLst/>
          </a:prstGeom>
          <a:noFill/>
          <a:ln/>
        </p:spPr>
        <p:txBody>
          <a:bodyPr wrap="square" rtlCol="0" anchor="ctr"/>
          <a:lstStyle/>
          <a:p>
            <a:pPr algn="ctr" indent="0" marL="0">
              <a:buNone/>
            </a:pPr>
            <a:r>
              <a:rPr lang="en-US" sz="1200" b="1" dirty="0">
                <a:solidFill>
                  <a:srgbClr val="FAFAFA"/>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05840" y="1901952"/>
            <a:ext cx="2011680" cy="274320"/>
          </a:xfrm>
          <a:prstGeom prst="rect">
            <a:avLst/>
          </a:prstGeom>
          <a:noFill/>
          <a:ln/>
        </p:spPr>
        <p:txBody>
          <a:bodyPr wrap="square" rtlCol="0" anchor="ctr"/>
          <a:lstStyle/>
          <a:p>
            <a:pPr indent="0" marL="0">
              <a:buNone/>
            </a:pPr>
            <a:r>
              <a:rPr lang="en-US" sz="1300" b="1" dirty="0">
                <a:solidFill>
                  <a:srgbClr val="163A2B"/>
                </a:solidFill>
                <a:latin typeface="Calibri" pitchFamily="34" charset="0"/>
                <a:ea typeface="Calibri" pitchFamily="34" charset="-122"/>
                <a:cs typeface="Calibri" pitchFamily="34" charset="-120"/>
              </a:rPr>
              <a:t>Choose Branch</a:t>
            </a:r>
            <a:endParaRPr lang="en-US" sz="1300" dirty="0"/>
          </a:p>
        </p:txBody>
      </p:sp>
      <p:sp>
        <p:nvSpPr>
          <p:cNvPr id="13" name="Text 11"/>
          <p:cNvSpPr/>
          <p:nvPr/>
        </p:nvSpPr>
        <p:spPr>
          <a:xfrm>
            <a:off x="3200400" y="1901952"/>
            <a:ext cx="5303520" cy="27432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Customer picks the branch location</a:t>
            </a:r>
            <a:endParaRPr lang="en-US" sz="1200" dirty="0"/>
          </a:p>
        </p:txBody>
      </p:sp>
      <p:sp>
        <p:nvSpPr>
          <p:cNvPr id="14" name="Shape 12"/>
          <p:cNvSpPr/>
          <p:nvPr/>
        </p:nvSpPr>
        <p:spPr>
          <a:xfrm>
            <a:off x="704088" y="2258568"/>
            <a:ext cx="9144" cy="164592"/>
          </a:xfrm>
          <a:prstGeom prst="line">
            <a:avLst/>
          </a:prstGeom>
          <a:noFill/>
          <a:ln w="25400">
            <a:solidFill>
              <a:srgbClr val="C8A96B"/>
            </a:solidFill>
            <a:prstDash val="solid"/>
          </a:ln>
        </p:spPr>
      </p:sp>
      <p:sp>
        <p:nvSpPr>
          <p:cNvPr id="15" name="Shape 13"/>
          <p:cNvSpPr/>
          <p:nvPr/>
        </p:nvSpPr>
        <p:spPr>
          <a:xfrm>
            <a:off x="548640" y="2423160"/>
            <a:ext cx="320040" cy="320040"/>
          </a:xfrm>
          <a:prstGeom prst="ellipse">
            <a:avLst/>
          </a:prstGeom>
          <a:solidFill>
            <a:srgbClr val="C8A96B"/>
          </a:solidFill>
          <a:ln/>
        </p:spPr>
      </p:sp>
      <p:sp>
        <p:nvSpPr>
          <p:cNvPr id="16" name="Text 14"/>
          <p:cNvSpPr/>
          <p:nvPr/>
        </p:nvSpPr>
        <p:spPr>
          <a:xfrm>
            <a:off x="548640" y="2450592"/>
            <a:ext cx="320040" cy="274320"/>
          </a:xfrm>
          <a:prstGeom prst="rect">
            <a:avLst/>
          </a:prstGeom>
          <a:noFill/>
          <a:ln/>
        </p:spPr>
        <p:txBody>
          <a:bodyPr wrap="square" rtlCol="0" anchor="ctr"/>
          <a:lstStyle/>
          <a:p>
            <a:pPr algn="ctr" indent="0" marL="0">
              <a:buNone/>
            </a:pPr>
            <a:r>
              <a:rPr lang="en-US" sz="1200" b="1" dirty="0">
                <a:solidFill>
                  <a:srgbClr val="FAFAFA"/>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005840" y="2404872"/>
            <a:ext cx="2011680" cy="274320"/>
          </a:xfrm>
          <a:prstGeom prst="rect">
            <a:avLst/>
          </a:prstGeom>
          <a:noFill/>
          <a:ln/>
        </p:spPr>
        <p:txBody>
          <a:bodyPr wrap="square" rtlCol="0" anchor="ctr"/>
          <a:lstStyle/>
          <a:p>
            <a:pPr indent="0" marL="0">
              <a:buNone/>
            </a:pPr>
            <a:r>
              <a:rPr lang="en-US" sz="1300" b="1" dirty="0">
                <a:solidFill>
                  <a:srgbClr val="163A2B"/>
                </a:solidFill>
                <a:latin typeface="Calibri" pitchFamily="34" charset="0"/>
                <a:ea typeface="Calibri" pitchFamily="34" charset="-122"/>
                <a:cs typeface="Calibri" pitchFamily="34" charset="-120"/>
              </a:rPr>
              <a:t>Choose Date &amp; Time</a:t>
            </a:r>
            <a:endParaRPr lang="en-US" sz="1300" dirty="0"/>
          </a:p>
        </p:txBody>
      </p:sp>
      <p:sp>
        <p:nvSpPr>
          <p:cNvPr id="18" name="Text 16"/>
          <p:cNvSpPr/>
          <p:nvPr/>
        </p:nvSpPr>
        <p:spPr>
          <a:xfrm>
            <a:off x="3200400" y="2404872"/>
            <a:ext cx="5303520" cy="27432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Calendar shows available slots based on staff schedules</a:t>
            </a:r>
            <a:endParaRPr lang="en-US" sz="1200" dirty="0"/>
          </a:p>
        </p:txBody>
      </p:sp>
      <p:sp>
        <p:nvSpPr>
          <p:cNvPr id="19" name="Shape 17"/>
          <p:cNvSpPr/>
          <p:nvPr/>
        </p:nvSpPr>
        <p:spPr>
          <a:xfrm>
            <a:off x="704088" y="2761488"/>
            <a:ext cx="9144" cy="164592"/>
          </a:xfrm>
          <a:prstGeom prst="line">
            <a:avLst/>
          </a:prstGeom>
          <a:noFill/>
          <a:ln w="25400">
            <a:solidFill>
              <a:srgbClr val="C8A96B"/>
            </a:solidFill>
            <a:prstDash val="solid"/>
          </a:ln>
        </p:spPr>
      </p:sp>
      <p:sp>
        <p:nvSpPr>
          <p:cNvPr id="20" name="Shape 18"/>
          <p:cNvSpPr/>
          <p:nvPr/>
        </p:nvSpPr>
        <p:spPr>
          <a:xfrm>
            <a:off x="548640" y="2926080"/>
            <a:ext cx="320040" cy="320040"/>
          </a:xfrm>
          <a:prstGeom prst="ellipse">
            <a:avLst/>
          </a:prstGeom>
          <a:solidFill>
            <a:srgbClr val="C8A96B"/>
          </a:solidFill>
          <a:ln/>
        </p:spPr>
      </p:sp>
      <p:sp>
        <p:nvSpPr>
          <p:cNvPr id="21" name="Text 19"/>
          <p:cNvSpPr/>
          <p:nvPr/>
        </p:nvSpPr>
        <p:spPr>
          <a:xfrm>
            <a:off x="548640" y="2953512"/>
            <a:ext cx="320040" cy="274320"/>
          </a:xfrm>
          <a:prstGeom prst="rect">
            <a:avLst/>
          </a:prstGeom>
          <a:noFill/>
          <a:ln/>
        </p:spPr>
        <p:txBody>
          <a:bodyPr wrap="square" rtlCol="0" anchor="ctr"/>
          <a:lstStyle/>
          <a:p>
            <a:pPr algn="ctr" indent="0" marL="0">
              <a:buNone/>
            </a:pPr>
            <a:r>
              <a:rPr lang="en-US" sz="1200" b="1" dirty="0">
                <a:solidFill>
                  <a:srgbClr val="FAFAFA"/>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005840" y="2907792"/>
            <a:ext cx="2011680" cy="274320"/>
          </a:xfrm>
          <a:prstGeom prst="rect">
            <a:avLst/>
          </a:prstGeom>
          <a:noFill/>
          <a:ln/>
        </p:spPr>
        <p:txBody>
          <a:bodyPr wrap="square" rtlCol="0" anchor="ctr"/>
          <a:lstStyle/>
          <a:p>
            <a:pPr indent="0" marL="0">
              <a:buNone/>
            </a:pPr>
            <a:r>
              <a:rPr lang="en-US" sz="1300" b="1" dirty="0">
                <a:solidFill>
                  <a:srgbClr val="163A2B"/>
                </a:solidFill>
                <a:latin typeface="Calibri" pitchFamily="34" charset="0"/>
                <a:ea typeface="Calibri" pitchFamily="34" charset="-122"/>
                <a:cs typeface="Calibri" pitchFamily="34" charset="-120"/>
              </a:rPr>
              <a:t>Choose Therapist</a:t>
            </a:r>
            <a:endParaRPr lang="en-US" sz="1300" dirty="0"/>
          </a:p>
        </p:txBody>
      </p:sp>
      <p:sp>
        <p:nvSpPr>
          <p:cNvPr id="23" name="Text 21"/>
          <p:cNvSpPr/>
          <p:nvPr/>
        </p:nvSpPr>
        <p:spPr>
          <a:xfrm>
            <a:off x="3200400" y="2907792"/>
            <a:ext cx="5303520" cy="27432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Customer selects a specific therapist or auto-assign</a:t>
            </a:r>
            <a:endParaRPr lang="en-US" sz="1200" dirty="0"/>
          </a:p>
        </p:txBody>
      </p:sp>
      <p:sp>
        <p:nvSpPr>
          <p:cNvPr id="24" name="Shape 22"/>
          <p:cNvSpPr/>
          <p:nvPr/>
        </p:nvSpPr>
        <p:spPr>
          <a:xfrm>
            <a:off x="704088" y="3264408"/>
            <a:ext cx="9144" cy="164592"/>
          </a:xfrm>
          <a:prstGeom prst="line">
            <a:avLst/>
          </a:prstGeom>
          <a:noFill/>
          <a:ln w="25400">
            <a:solidFill>
              <a:srgbClr val="C8A96B"/>
            </a:solidFill>
            <a:prstDash val="solid"/>
          </a:ln>
        </p:spPr>
      </p:sp>
      <p:sp>
        <p:nvSpPr>
          <p:cNvPr id="25" name="Shape 23"/>
          <p:cNvSpPr/>
          <p:nvPr/>
        </p:nvSpPr>
        <p:spPr>
          <a:xfrm>
            <a:off x="548640" y="3429000"/>
            <a:ext cx="320040" cy="320040"/>
          </a:xfrm>
          <a:prstGeom prst="ellipse">
            <a:avLst/>
          </a:prstGeom>
          <a:solidFill>
            <a:srgbClr val="C8A96B"/>
          </a:solidFill>
          <a:ln/>
        </p:spPr>
      </p:sp>
      <p:sp>
        <p:nvSpPr>
          <p:cNvPr id="26" name="Text 24"/>
          <p:cNvSpPr/>
          <p:nvPr/>
        </p:nvSpPr>
        <p:spPr>
          <a:xfrm>
            <a:off x="548640" y="3456432"/>
            <a:ext cx="320040" cy="274320"/>
          </a:xfrm>
          <a:prstGeom prst="rect">
            <a:avLst/>
          </a:prstGeom>
          <a:noFill/>
          <a:ln/>
        </p:spPr>
        <p:txBody>
          <a:bodyPr wrap="square" rtlCol="0" anchor="ctr"/>
          <a:lstStyle/>
          <a:p>
            <a:pPr algn="ctr" indent="0" marL="0">
              <a:buNone/>
            </a:pPr>
            <a:r>
              <a:rPr lang="en-US" sz="1200" b="1" dirty="0">
                <a:solidFill>
                  <a:srgbClr val="FAFAFA"/>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005840" y="3410712"/>
            <a:ext cx="2011680" cy="274320"/>
          </a:xfrm>
          <a:prstGeom prst="rect">
            <a:avLst/>
          </a:prstGeom>
          <a:noFill/>
          <a:ln/>
        </p:spPr>
        <p:txBody>
          <a:bodyPr wrap="square" rtlCol="0" anchor="ctr"/>
          <a:lstStyle/>
          <a:p>
            <a:pPr indent="0" marL="0">
              <a:buNone/>
            </a:pPr>
            <a:r>
              <a:rPr lang="en-US" sz="1300" b="1" dirty="0">
                <a:solidFill>
                  <a:srgbClr val="163A2B"/>
                </a:solidFill>
                <a:latin typeface="Calibri" pitchFamily="34" charset="0"/>
                <a:ea typeface="Calibri" pitchFamily="34" charset="-122"/>
                <a:cs typeface="Calibri" pitchFamily="34" charset="-120"/>
              </a:rPr>
              <a:t>Enter Details</a:t>
            </a:r>
            <a:endParaRPr lang="en-US" sz="1300" dirty="0"/>
          </a:p>
        </p:txBody>
      </p:sp>
      <p:sp>
        <p:nvSpPr>
          <p:cNvPr id="28" name="Text 26"/>
          <p:cNvSpPr/>
          <p:nvPr/>
        </p:nvSpPr>
        <p:spPr>
          <a:xfrm>
            <a:off x="3200400" y="3410712"/>
            <a:ext cx="5303520" cy="27432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Name, phone, email, and any special requests</a:t>
            </a:r>
            <a:endParaRPr lang="en-US" sz="1200" dirty="0"/>
          </a:p>
        </p:txBody>
      </p:sp>
      <p:sp>
        <p:nvSpPr>
          <p:cNvPr id="29" name="Shape 27"/>
          <p:cNvSpPr/>
          <p:nvPr/>
        </p:nvSpPr>
        <p:spPr>
          <a:xfrm>
            <a:off x="704088" y="3767328"/>
            <a:ext cx="9144" cy="164592"/>
          </a:xfrm>
          <a:prstGeom prst="line">
            <a:avLst/>
          </a:prstGeom>
          <a:noFill/>
          <a:ln w="25400">
            <a:solidFill>
              <a:srgbClr val="C8A96B"/>
            </a:solidFill>
            <a:prstDash val="solid"/>
          </a:ln>
        </p:spPr>
      </p:sp>
      <p:sp>
        <p:nvSpPr>
          <p:cNvPr id="30" name="Shape 28"/>
          <p:cNvSpPr/>
          <p:nvPr/>
        </p:nvSpPr>
        <p:spPr>
          <a:xfrm>
            <a:off x="548640" y="3931920"/>
            <a:ext cx="320040" cy="320040"/>
          </a:xfrm>
          <a:prstGeom prst="ellipse">
            <a:avLst/>
          </a:prstGeom>
          <a:solidFill>
            <a:srgbClr val="C8A96B"/>
          </a:solidFill>
          <a:ln/>
        </p:spPr>
      </p:sp>
      <p:sp>
        <p:nvSpPr>
          <p:cNvPr id="31" name="Text 29"/>
          <p:cNvSpPr/>
          <p:nvPr/>
        </p:nvSpPr>
        <p:spPr>
          <a:xfrm>
            <a:off x="548640" y="3959352"/>
            <a:ext cx="320040" cy="274320"/>
          </a:xfrm>
          <a:prstGeom prst="rect">
            <a:avLst/>
          </a:prstGeom>
          <a:noFill/>
          <a:ln/>
        </p:spPr>
        <p:txBody>
          <a:bodyPr wrap="square" rtlCol="0" anchor="ctr"/>
          <a:lstStyle/>
          <a:p>
            <a:pPr algn="ctr" indent="0" marL="0">
              <a:buNone/>
            </a:pPr>
            <a:r>
              <a:rPr lang="en-US" sz="1200" b="1" dirty="0">
                <a:solidFill>
                  <a:srgbClr val="FAFAFA"/>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1005840" y="3913632"/>
            <a:ext cx="2011680" cy="274320"/>
          </a:xfrm>
          <a:prstGeom prst="rect">
            <a:avLst/>
          </a:prstGeom>
          <a:noFill/>
          <a:ln/>
        </p:spPr>
        <p:txBody>
          <a:bodyPr wrap="square" rtlCol="0" anchor="ctr"/>
          <a:lstStyle/>
          <a:p>
            <a:pPr indent="0" marL="0">
              <a:buNone/>
            </a:pPr>
            <a:r>
              <a:rPr lang="en-US" sz="1300" b="1" dirty="0">
                <a:solidFill>
                  <a:srgbClr val="163A2B"/>
                </a:solidFill>
                <a:latin typeface="Calibri" pitchFamily="34" charset="0"/>
                <a:ea typeface="Calibri" pitchFamily="34" charset="-122"/>
                <a:cs typeface="Calibri" pitchFamily="34" charset="-120"/>
              </a:rPr>
              <a:t>Confirm Booking</a:t>
            </a:r>
            <a:endParaRPr lang="en-US" sz="1300" dirty="0"/>
          </a:p>
        </p:txBody>
      </p:sp>
      <p:sp>
        <p:nvSpPr>
          <p:cNvPr id="33" name="Text 31"/>
          <p:cNvSpPr/>
          <p:nvPr/>
        </p:nvSpPr>
        <p:spPr>
          <a:xfrm>
            <a:off x="3200400" y="3913632"/>
            <a:ext cx="5303520" cy="27432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Summary page with booking confirmation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GUI Proposal: CRM / Front Desk</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Daily operations workspace</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8229600" cy="457200"/>
          </a:xfrm>
          <a:prstGeom prst="rect">
            <a:avLst/>
          </a:prstGeom>
          <a:solidFill>
            <a:srgbClr val="FAFAFA"/>
          </a:solidFill>
          <a:ln w="6350">
            <a:solidFill>
              <a:srgbClr val="F0ECE5"/>
            </a:solidFill>
            <a:prstDash val="solid"/>
          </a:ln>
        </p:spPr>
      </p:sp>
      <p:sp>
        <p:nvSpPr>
          <p:cNvPr id="6" name="Text 4"/>
          <p:cNvSpPr/>
          <p:nvPr/>
        </p:nvSpPr>
        <p:spPr>
          <a:xfrm>
            <a:off x="594360" y="141732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Today's Bookings</a:t>
            </a:r>
            <a:endParaRPr lang="en-US" sz="1200" dirty="0"/>
          </a:p>
        </p:txBody>
      </p:sp>
      <p:sp>
        <p:nvSpPr>
          <p:cNvPr id="7" name="Text 5"/>
          <p:cNvSpPr/>
          <p:nvPr/>
        </p:nvSpPr>
        <p:spPr>
          <a:xfrm>
            <a:off x="3108960" y="141732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Overview of all appointments for the current day with status badges</a:t>
            </a:r>
            <a:endParaRPr lang="en-US" sz="1200" dirty="0"/>
          </a:p>
        </p:txBody>
      </p:sp>
      <p:sp>
        <p:nvSpPr>
          <p:cNvPr id="8" name="Shape 6"/>
          <p:cNvSpPr/>
          <p:nvPr/>
        </p:nvSpPr>
        <p:spPr>
          <a:xfrm>
            <a:off x="457200" y="1874520"/>
            <a:ext cx="8229600" cy="457200"/>
          </a:xfrm>
          <a:prstGeom prst="rect">
            <a:avLst/>
          </a:prstGeom>
          <a:solidFill>
            <a:srgbClr val="FAFAFA"/>
          </a:solidFill>
          <a:ln w="6350">
            <a:solidFill>
              <a:srgbClr val="F0ECE5"/>
            </a:solidFill>
            <a:prstDash val="solid"/>
          </a:ln>
        </p:spPr>
      </p:sp>
      <p:sp>
        <p:nvSpPr>
          <p:cNvPr id="9" name="Text 7"/>
          <p:cNvSpPr/>
          <p:nvPr/>
        </p:nvSpPr>
        <p:spPr>
          <a:xfrm>
            <a:off x="594360" y="192024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Create Walk-in Booking</a:t>
            </a:r>
            <a:endParaRPr lang="en-US" sz="1200" dirty="0"/>
          </a:p>
        </p:txBody>
      </p:sp>
      <p:sp>
        <p:nvSpPr>
          <p:cNvPr id="10" name="Text 8"/>
          <p:cNvSpPr/>
          <p:nvPr/>
        </p:nvSpPr>
        <p:spPr>
          <a:xfrm>
            <a:off x="3108960" y="192024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Quick booking form for customers who arrive without an appointment</a:t>
            </a:r>
            <a:endParaRPr lang="en-US" sz="1200" dirty="0"/>
          </a:p>
        </p:txBody>
      </p:sp>
      <p:sp>
        <p:nvSpPr>
          <p:cNvPr id="11" name="Shape 9"/>
          <p:cNvSpPr/>
          <p:nvPr/>
        </p:nvSpPr>
        <p:spPr>
          <a:xfrm>
            <a:off x="457200" y="2377440"/>
            <a:ext cx="8229600" cy="457200"/>
          </a:xfrm>
          <a:prstGeom prst="rect">
            <a:avLst/>
          </a:prstGeom>
          <a:solidFill>
            <a:srgbClr val="FAFAFA"/>
          </a:solidFill>
          <a:ln w="6350">
            <a:solidFill>
              <a:srgbClr val="F0ECE5"/>
            </a:solidFill>
            <a:prstDash val="solid"/>
          </a:ln>
        </p:spPr>
      </p:sp>
      <p:sp>
        <p:nvSpPr>
          <p:cNvPr id="12" name="Text 10"/>
          <p:cNvSpPr/>
          <p:nvPr/>
        </p:nvSpPr>
        <p:spPr>
          <a:xfrm>
            <a:off x="594360" y="242316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Customer Details</a:t>
            </a:r>
            <a:endParaRPr lang="en-US" sz="1200" dirty="0"/>
          </a:p>
        </p:txBody>
      </p:sp>
      <p:sp>
        <p:nvSpPr>
          <p:cNvPr id="13" name="Text 11"/>
          <p:cNvSpPr/>
          <p:nvPr/>
        </p:nvSpPr>
        <p:spPr>
          <a:xfrm>
            <a:off x="3108960" y="242316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Search and view customer contact info and booking history</a:t>
            </a:r>
            <a:endParaRPr lang="en-US" sz="1200" dirty="0"/>
          </a:p>
        </p:txBody>
      </p:sp>
      <p:sp>
        <p:nvSpPr>
          <p:cNvPr id="14" name="Shape 12"/>
          <p:cNvSpPr/>
          <p:nvPr/>
        </p:nvSpPr>
        <p:spPr>
          <a:xfrm>
            <a:off x="457200" y="2880360"/>
            <a:ext cx="8229600" cy="457200"/>
          </a:xfrm>
          <a:prstGeom prst="rect">
            <a:avLst/>
          </a:prstGeom>
          <a:solidFill>
            <a:srgbClr val="FAFAFA"/>
          </a:solidFill>
          <a:ln w="6350">
            <a:solidFill>
              <a:srgbClr val="F0ECE5"/>
            </a:solidFill>
            <a:prstDash val="solid"/>
          </a:ln>
        </p:spPr>
      </p:sp>
      <p:sp>
        <p:nvSpPr>
          <p:cNvPr id="15" name="Text 13"/>
          <p:cNvSpPr/>
          <p:nvPr/>
        </p:nvSpPr>
        <p:spPr>
          <a:xfrm>
            <a:off x="594360" y="292608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Booking Status</a:t>
            </a:r>
            <a:endParaRPr lang="en-US" sz="1200" dirty="0"/>
          </a:p>
        </p:txBody>
      </p:sp>
      <p:sp>
        <p:nvSpPr>
          <p:cNvPr id="16" name="Text 14"/>
          <p:cNvSpPr/>
          <p:nvPr/>
        </p:nvSpPr>
        <p:spPr>
          <a:xfrm>
            <a:off x="3108960" y="292608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Update status: confirm, check-in, complete, cancel, or no-show</a:t>
            </a:r>
            <a:endParaRPr lang="en-US" sz="1200" dirty="0"/>
          </a:p>
        </p:txBody>
      </p:sp>
      <p:sp>
        <p:nvSpPr>
          <p:cNvPr id="17" name="Shape 15"/>
          <p:cNvSpPr/>
          <p:nvPr/>
        </p:nvSpPr>
        <p:spPr>
          <a:xfrm>
            <a:off x="457200" y="3383280"/>
            <a:ext cx="8229600" cy="457200"/>
          </a:xfrm>
          <a:prstGeom prst="rect">
            <a:avLst/>
          </a:prstGeom>
          <a:solidFill>
            <a:srgbClr val="FAFAFA"/>
          </a:solidFill>
          <a:ln w="6350">
            <a:solidFill>
              <a:srgbClr val="F0ECE5"/>
            </a:solidFill>
            <a:prstDash val="solid"/>
          </a:ln>
        </p:spPr>
      </p:sp>
      <p:sp>
        <p:nvSpPr>
          <p:cNvPr id="18" name="Text 16"/>
          <p:cNvSpPr/>
          <p:nvPr/>
        </p:nvSpPr>
        <p:spPr>
          <a:xfrm>
            <a:off x="594360" y="342900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Staff Assignment</a:t>
            </a:r>
            <a:endParaRPr lang="en-US" sz="1200" dirty="0"/>
          </a:p>
        </p:txBody>
      </p:sp>
      <p:sp>
        <p:nvSpPr>
          <p:cNvPr id="19" name="Text 17"/>
          <p:cNvSpPr/>
          <p:nvPr/>
        </p:nvSpPr>
        <p:spPr>
          <a:xfrm>
            <a:off x="3108960" y="342900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Assign or reassign therapists to bookings</a:t>
            </a:r>
            <a:endParaRPr lang="en-US" sz="1200" dirty="0"/>
          </a:p>
        </p:txBody>
      </p:sp>
      <p:sp>
        <p:nvSpPr>
          <p:cNvPr id="20" name="Shape 18"/>
          <p:cNvSpPr/>
          <p:nvPr/>
        </p:nvSpPr>
        <p:spPr>
          <a:xfrm>
            <a:off x="457200" y="3886200"/>
            <a:ext cx="8229600" cy="457200"/>
          </a:xfrm>
          <a:prstGeom prst="rect">
            <a:avLst/>
          </a:prstGeom>
          <a:solidFill>
            <a:srgbClr val="FAFAFA"/>
          </a:solidFill>
          <a:ln w="6350">
            <a:solidFill>
              <a:srgbClr val="F0ECE5"/>
            </a:solidFill>
            <a:prstDash val="solid"/>
          </a:ln>
        </p:spPr>
      </p:sp>
      <p:sp>
        <p:nvSpPr>
          <p:cNvPr id="21" name="Text 19"/>
          <p:cNvSpPr/>
          <p:nvPr/>
        </p:nvSpPr>
        <p:spPr>
          <a:xfrm>
            <a:off x="594360" y="393192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Schedule View</a:t>
            </a:r>
            <a:endParaRPr lang="en-US" sz="1200" dirty="0"/>
          </a:p>
        </p:txBody>
      </p:sp>
      <p:sp>
        <p:nvSpPr>
          <p:cNvPr id="22" name="Text 20"/>
          <p:cNvSpPr/>
          <p:nvPr/>
        </p:nvSpPr>
        <p:spPr>
          <a:xfrm>
            <a:off x="3108960" y="393192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Daily timeline showing all staff schedules and booking blocks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GUI Proposal: Manager Workspace</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Operations and staff management</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8229600" cy="457200"/>
          </a:xfrm>
          <a:prstGeom prst="rect">
            <a:avLst/>
          </a:prstGeom>
          <a:solidFill>
            <a:srgbClr val="FAFAFA"/>
          </a:solidFill>
          <a:ln w="6350">
            <a:solidFill>
              <a:srgbClr val="F0ECE5"/>
            </a:solidFill>
            <a:prstDash val="solid"/>
          </a:ln>
        </p:spPr>
      </p:sp>
      <p:sp>
        <p:nvSpPr>
          <p:cNvPr id="6" name="Text 4"/>
          <p:cNvSpPr/>
          <p:nvPr/>
        </p:nvSpPr>
        <p:spPr>
          <a:xfrm>
            <a:off x="594360" y="141732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Dashboard Summary</a:t>
            </a:r>
            <a:endParaRPr lang="en-US" sz="1200" dirty="0"/>
          </a:p>
        </p:txBody>
      </p:sp>
      <p:sp>
        <p:nvSpPr>
          <p:cNvPr id="7" name="Text 5"/>
          <p:cNvSpPr/>
          <p:nvPr/>
        </p:nvSpPr>
        <p:spPr>
          <a:xfrm>
            <a:off x="3108960" y="141732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Daily stats: bookings, revenue, staff availability, and branch performance</a:t>
            </a:r>
            <a:endParaRPr lang="en-US" sz="1200" dirty="0"/>
          </a:p>
        </p:txBody>
      </p:sp>
      <p:sp>
        <p:nvSpPr>
          <p:cNvPr id="8" name="Shape 6"/>
          <p:cNvSpPr/>
          <p:nvPr/>
        </p:nvSpPr>
        <p:spPr>
          <a:xfrm>
            <a:off x="457200" y="1874520"/>
            <a:ext cx="8229600" cy="457200"/>
          </a:xfrm>
          <a:prstGeom prst="rect">
            <a:avLst/>
          </a:prstGeom>
          <a:solidFill>
            <a:srgbClr val="FAFAFA"/>
          </a:solidFill>
          <a:ln w="6350">
            <a:solidFill>
              <a:srgbClr val="F0ECE5"/>
            </a:solidFill>
            <a:prstDash val="solid"/>
          </a:ln>
        </p:spPr>
      </p:sp>
      <p:sp>
        <p:nvSpPr>
          <p:cNvPr id="9" name="Text 7"/>
          <p:cNvSpPr/>
          <p:nvPr/>
        </p:nvSpPr>
        <p:spPr>
          <a:xfrm>
            <a:off x="594360" y="192024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Staff Management</a:t>
            </a:r>
            <a:endParaRPr lang="en-US" sz="1200" dirty="0"/>
          </a:p>
        </p:txBody>
      </p:sp>
      <p:sp>
        <p:nvSpPr>
          <p:cNvPr id="10" name="Text 8"/>
          <p:cNvSpPr/>
          <p:nvPr/>
        </p:nvSpPr>
        <p:spPr>
          <a:xfrm>
            <a:off x="3108960" y="192024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Add, edit, and organize staff by branch with role and schedule info</a:t>
            </a:r>
            <a:endParaRPr lang="en-US" sz="1200" dirty="0"/>
          </a:p>
        </p:txBody>
      </p:sp>
      <p:sp>
        <p:nvSpPr>
          <p:cNvPr id="11" name="Shape 9"/>
          <p:cNvSpPr/>
          <p:nvPr/>
        </p:nvSpPr>
        <p:spPr>
          <a:xfrm>
            <a:off x="457200" y="2377440"/>
            <a:ext cx="8229600" cy="457200"/>
          </a:xfrm>
          <a:prstGeom prst="rect">
            <a:avLst/>
          </a:prstGeom>
          <a:solidFill>
            <a:srgbClr val="FAFAFA"/>
          </a:solidFill>
          <a:ln w="6350">
            <a:solidFill>
              <a:srgbClr val="F0ECE5"/>
            </a:solidFill>
            <a:prstDash val="solid"/>
          </a:ln>
        </p:spPr>
      </p:sp>
      <p:sp>
        <p:nvSpPr>
          <p:cNvPr id="12" name="Text 10"/>
          <p:cNvSpPr/>
          <p:nvPr/>
        </p:nvSpPr>
        <p:spPr>
          <a:xfrm>
            <a:off x="594360" y="242316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Schedule Management</a:t>
            </a:r>
            <a:endParaRPr lang="en-US" sz="1200" dirty="0"/>
          </a:p>
        </p:txBody>
      </p:sp>
      <p:sp>
        <p:nvSpPr>
          <p:cNvPr id="13" name="Text 11"/>
          <p:cNvSpPr/>
          <p:nvPr/>
        </p:nvSpPr>
        <p:spPr>
          <a:xfrm>
            <a:off x="3108960" y="242316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Set weekly hours, day overrides, and blocked times for each staff member</a:t>
            </a:r>
            <a:endParaRPr lang="en-US" sz="1200" dirty="0"/>
          </a:p>
        </p:txBody>
      </p:sp>
      <p:sp>
        <p:nvSpPr>
          <p:cNvPr id="14" name="Shape 12"/>
          <p:cNvSpPr/>
          <p:nvPr/>
        </p:nvSpPr>
        <p:spPr>
          <a:xfrm>
            <a:off x="457200" y="2880360"/>
            <a:ext cx="8229600" cy="457200"/>
          </a:xfrm>
          <a:prstGeom prst="rect">
            <a:avLst/>
          </a:prstGeom>
          <a:solidFill>
            <a:srgbClr val="FAFAFA"/>
          </a:solidFill>
          <a:ln w="6350">
            <a:solidFill>
              <a:srgbClr val="F0ECE5"/>
            </a:solidFill>
            <a:prstDash val="solid"/>
          </a:ln>
        </p:spPr>
      </p:sp>
      <p:sp>
        <p:nvSpPr>
          <p:cNvPr id="15" name="Text 13"/>
          <p:cNvSpPr/>
          <p:nvPr/>
        </p:nvSpPr>
        <p:spPr>
          <a:xfrm>
            <a:off x="594360" y="292608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Booking List</a:t>
            </a:r>
            <a:endParaRPr lang="en-US" sz="1200" dirty="0"/>
          </a:p>
        </p:txBody>
      </p:sp>
      <p:sp>
        <p:nvSpPr>
          <p:cNvPr id="16" name="Text 14"/>
          <p:cNvSpPr/>
          <p:nvPr/>
        </p:nvSpPr>
        <p:spPr>
          <a:xfrm>
            <a:off x="3108960" y="292608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Filterable list of all bookings with status, payment, and action menus</a:t>
            </a:r>
            <a:endParaRPr lang="en-US" sz="1200" dirty="0"/>
          </a:p>
        </p:txBody>
      </p:sp>
      <p:sp>
        <p:nvSpPr>
          <p:cNvPr id="17" name="Shape 15"/>
          <p:cNvSpPr/>
          <p:nvPr/>
        </p:nvSpPr>
        <p:spPr>
          <a:xfrm>
            <a:off x="457200" y="3383280"/>
            <a:ext cx="8229600" cy="457200"/>
          </a:xfrm>
          <a:prstGeom prst="rect">
            <a:avLst/>
          </a:prstGeom>
          <a:solidFill>
            <a:srgbClr val="FAFAFA"/>
          </a:solidFill>
          <a:ln w="6350">
            <a:solidFill>
              <a:srgbClr val="F0ECE5"/>
            </a:solidFill>
            <a:prstDash val="solid"/>
          </a:ln>
        </p:spPr>
      </p:sp>
      <p:sp>
        <p:nvSpPr>
          <p:cNvPr id="18" name="Text 16"/>
          <p:cNvSpPr/>
          <p:nvPr/>
        </p:nvSpPr>
        <p:spPr>
          <a:xfrm>
            <a:off x="594360" y="342900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Branch Resources</a:t>
            </a:r>
            <a:endParaRPr lang="en-US" sz="1200" dirty="0"/>
          </a:p>
        </p:txBody>
      </p:sp>
      <p:sp>
        <p:nvSpPr>
          <p:cNvPr id="19" name="Text 17"/>
          <p:cNvSpPr/>
          <p:nvPr/>
        </p:nvSpPr>
        <p:spPr>
          <a:xfrm>
            <a:off x="3108960" y="342900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Manage rooms, beds, and equipment with availability tracking</a:t>
            </a:r>
            <a:endParaRPr lang="en-US" sz="1200" dirty="0"/>
          </a:p>
        </p:txBody>
      </p:sp>
      <p:sp>
        <p:nvSpPr>
          <p:cNvPr id="20" name="Shape 18"/>
          <p:cNvSpPr/>
          <p:nvPr/>
        </p:nvSpPr>
        <p:spPr>
          <a:xfrm>
            <a:off x="457200" y="3886200"/>
            <a:ext cx="8229600" cy="457200"/>
          </a:xfrm>
          <a:prstGeom prst="rect">
            <a:avLst/>
          </a:prstGeom>
          <a:solidFill>
            <a:srgbClr val="FAFAFA"/>
          </a:solidFill>
          <a:ln w="6350">
            <a:solidFill>
              <a:srgbClr val="F0ECE5"/>
            </a:solidFill>
            <a:prstDash val="solid"/>
          </a:ln>
        </p:spPr>
      </p:sp>
      <p:sp>
        <p:nvSpPr>
          <p:cNvPr id="21" name="Text 19"/>
          <p:cNvSpPr/>
          <p:nvPr/>
        </p:nvSpPr>
        <p:spPr>
          <a:xfrm>
            <a:off x="594360" y="393192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Services &amp; Reports</a:t>
            </a:r>
            <a:endParaRPr lang="en-US" sz="1200" dirty="0"/>
          </a:p>
        </p:txBody>
      </p:sp>
      <p:sp>
        <p:nvSpPr>
          <p:cNvPr id="22" name="Text 20"/>
          <p:cNvSpPr/>
          <p:nvPr/>
        </p:nvSpPr>
        <p:spPr>
          <a:xfrm>
            <a:off x="3108960" y="393192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Update service catalog and view basic business reports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GUI Proposal: Staff Portal</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Therapist and service staff view</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8229600" cy="457200"/>
          </a:xfrm>
          <a:prstGeom prst="rect">
            <a:avLst/>
          </a:prstGeom>
          <a:solidFill>
            <a:srgbClr val="FAFAFA"/>
          </a:solidFill>
          <a:ln w="6350">
            <a:solidFill>
              <a:srgbClr val="F0ECE5"/>
            </a:solidFill>
            <a:prstDash val="solid"/>
          </a:ln>
        </p:spPr>
      </p:sp>
      <p:sp>
        <p:nvSpPr>
          <p:cNvPr id="6" name="Text 4"/>
          <p:cNvSpPr/>
          <p:nvPr/>
        </p:nvSpPr>
        <p:spPr>
          <a:xfrm>
            <a:off x="594360" y="141732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My Appointments</a:t>
            </a:r>
            <a:endParaRPr lang="en-US" sz="1200" dirty="0"/>
          </a:p>
        </p:txBody>
      </p:sp>
      <p:sp>
        <p:nvSpPr>
          <p:cNvPr id="7" name="Text 5"/>
          <p:cNvSpPr/>
          <p:nvPr/>
        </p:nvSpPr>
        <p:spPr>
          <a:xfrm>
            <a:off x="3108960" y="141732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List of today's assigned bookings with customer and service details</a:t>
            </a:r>
            <a:endParaRPr lang="en-US" sz="1200" dirty="0"/>
          </a:p>
        </p:txBody>
      </p:sp>
      <p:sp>
        <p:nvSpPr>
          <p:cNvPr id="8" name="Shape 6"/>
          <p:cNvSpPr/>
          <p:nvPr/>
        </p:nvSpPr>
        <p:spPr>
          <a:xfrm>
            <a:off x="457200" y="1874520"/>
            <a:ext cx="8229600" cy="457200"/>
          </a:xfrm>
          <a:prstGeom prst="rect">
            <a:avLst/>
          </a:prstGeom>
          <a:solidFill>
            <a:srgbClr val="FAFAFA"/>
          </a:solidFill>
          <a:ln w="6350">
            <a:solidFill>
              <a:srgbClr val="F0ECE5"/>
            </a:solidFill>
            <a:prstDash val="solid"/>
          </a:ln>
        </p:spPr>
      </p:sp>
      <p:sp>
        <p:nvSpPr>
          <p:cNvPr id="9" name="Text 7"/>
          <p:cNvSpPr/>
          <p:nvPr/>
        </p:nvSpPr>
        <p:spPr>
          <a:xfrm>
            <a:off x="594360" y="192024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Today's Schedule</a:t>
            </a:r>
            <a:endParaRPr lang="en-US" sz="1200" dirty="0"/>
          </a:p>
        </p:txBody>
      </p:sp>
      <p:sp>
        <p:nvSpPr>
          <p:cNvPr id="10" name="Text 8"/>
          <p:cNvSpPr/>
          <p:nvPr/>
        </p:nvSpPr>
        <p:spPr>
          <a:xfrm>
            <a:off x="3108960" y="192024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Visual timeline of the staff member's work hours and appointments</a:t>
            </a:r>
            <a:endParaRPr lang="en-US" sz="1200" dirty="0"/>
          </a:p>
        </p:txBody>
      </p:sp>
      <p:sp>
        <p:nvSpPr>
          <p:cNvPr id="11" name="Shape 9"/>
          <p:cNvSpPr/>
          <p:nvPr/>
        </p:nvSpPr>
        <p:spPr>
          <a:xfrm>
            <a:off x="457200" y="2377440"/>
            <a:ext cx="8229600" cy="457200"/>
          </a:xfrm>
          <a:prstGeom prst="rect">
            <a:avLst/>
          </a:prstGeom>
          <a:solidFill>
            <a:srgbClr val="FAFAFA"/>
          </a:solidFill>
          <a:ln w="6350">
            <a:solidFill>
              <a:srgbClr val="F0ECE5"/>
            </a:solidFill>
            <a:prstDash val="solid"/>
          </a:ln>
        </p:spPr>
      </p:sp>
      <p:sp>
        <p:nvSpPr>
          <p:cNvPr id="12" name="Text 10"/>
          <p:cNvSpPr/>
          <p:nvPr/>
        </p:nvSpPr>
        <p:spPr>
          <a:xfrm>
            <a:off x="594360" y="242316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Booking Details</a:t>
            </a:r>
            <a:endParaRPr lang="en-US" sz="1200" dirty="0"/>
          </a:p>
        </p:txBody>
      </p:sp>
      <p:sp>
        <p:nvSpPr>
          <p:cNvPr id="13" name="Text 11"/>
          <p:cNvSpPr/>
          <p:nvPr/>
        </p:nvSpPr>
        <p:spPr>
          <a:xfrm>
            <a:off x="3108960" y="242316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View full booking info: customer, service, time, branch, and notes</a:t>
            </a:r>
            <a:endParaRPr lang="en-US" sz="1200" dirty="0"/>
          </a:p>
        </p:txBody>
      </p:sp>
      <p:sp>
        <p:nvSpPr>
          <p:cNvPr id="14" name="Shape 12"/>
          <p:cNvSpPr/>
          <p:nvPr/>
        </p:nvSpPr>
        <p:spPr>
          <a:xfrm>
            <a:off x="457200" y="2880360"/>
            <a:ext cx="8229600" cy="457200"/>
          </a:xfrm>
          <a:prstGeom prst="rect">
            <a:avLst/>
          </a:prstGeom>
          <a:solidFill>
            <a:srgbClr val="FAFAFA"/>
          </a:solidFill>
          <a:ln w="6350">
            <a:solidFill>
              <a:srgbClr val="F0ECE5"/>
            </a:solidFill>
            <a:prstDash val="solid"/>
          </a:ln>
        </p:spPr>
      </p:sp>
      <p:sp>
        <p:nvSpPr>
          <p:cNvPr id="15" name="Text 13"/>
          <p:cNvSpPr/>
          <p:nvPr/>
        </p:nvSpPr>
        <p:spPr>
          <a:xfrm>
            <a:off x="594360" y="292608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Status Updates</a:t>
            </a:r>
            <a:endParaRPr lang="en-US" sz="1200" dirty="0"/>
          </a:p>
        </p:txBody>
      </p:sp>
      <p:sp>
        <p:nvSpPr>
          <p:cNvPr id="16" name="Text 14"/>
          <p:cNvSpPr/>
          <p:nvPr/>
        </p:nvSpPr>
        <p:spPr>
          <a:xfrm>
            <a:off x="3108960" y="292608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Update booking progress: travel, arrived, session started, completed</a:t>
            </a:r>
            <a:endParaRPr lang="en-US" sz="1200" dirty="0"/>
          </a:p>
        </p:txBody>
      </p:sp>
      <p:sp>
        <p:nvSpPr>
          <p:cNvPr id="17" name="Shape 15"/>
          <p:cNvSpPr/>
          <p:nvPr/>
        </p:nvSpPr>
        <p:spPr>
          <a:xfrm>
            <a:off x="457200" y="3383280"/>
            <a:ext cx="8229600" cy="457200"/>
          </a:xfrm>
          <a:prstGeom prst="rect">
            <a:avLst/>
          </a:prstGeom>
          <a:solidFill>
            <a:srgbClr val="FAFAFA"/>
          </a:solidFill>
          <a:ln w="6350">
            <a:solidFill>
              <a:srgbClr val="F0ECE5"/>
            </a:solidFill>
            <a:prstDash val="solid"/>
          </a:ln>
        </p:spPr>
      </p:sp>
      <p:sp>
        <p:nvSpPr>
          <p:cNvPr id="18" name="Text 16"/>
          <p:cNvSpPr/>
          <p:nvPr/>
        </p:nvSpPr>
        <p:spPr>
          <a:xfrm>
            <a:off x="594360" y="342900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Weekly View</a:t>
            </a:r>
            <a:endParaRPr lang="en-US" sz="1200" dirty="0"/>
          </a:p>
        </p:txBody>
      </p:sp>
      <p:sp>
        <p:nvSpPr>
          <p:cNvPr id="19" name="Text 17"/>
          <p:cNvSpPr/>
          <p:nvPr/>
        </p:nvSpPr>
        <p:spPr>
          <a:xfrm>
            <a:off x="3108960" y="342900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Seven-day calendar showing all upcoming appointments</a:t>
            </a:r>
            <a:endParaRPr lang="en-US" sz="1200" dirty="0"/>
          </a:p>
        </p:txBody>
      </p:sp>
      <p:sp>
        <p:nvSpPr>
          <p:cNvPr id="20" name="Shape 18"/>
          <p:cNvSpPr/>
          <p:nvPr/>
        </p:nvSpPr>
        <p:spPr>
          <a:xfrm>
            <a:off x="457200" y="3886200"/>
            <a:ext cx="8229600" cy="457200"/>
          </a:xfrm>
          <a:prstGeom prst="rect">
            <a:avLst/>
          </a:prstGeom>
          <a:solidFill>
            <a:srgbClr val="FAFAFA"/>
          </a:solidFill>
          <a:ln w="6350">
            <a:solidFill>
              <a:srgbClr val="F0ECE5"/>
            </a:solidFill>
            <a:prstDash val="solid"/>
          </a:ln>
        </p:spPr>
      </p:sp>
      <p:sp>
        <p:nvSpPr>
          <p:cNvPr id="21" name="Text 19"/>
          <p:cNvSpPr/>
          <p:nvPr/>
        </p:nvSpPr>
        <p:spPr>
          <a:xfrm>
            <a:off x="594360" y="3931920"/>
            <a:ext cx="237744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Stats &amp; Profile</a:t>
            </a:r>
            <a:endParaRPr lang="en-US" sz="1200" dirty="0"/>
          </a:p>
        </p:txBody>
      </p:sp>
      <p:sp>
        <p:nvSpPr>
          <p:cNvPr id="22" name="Text 20"/>
          <p:cNvSpPr/>
          <p:nvPr/>
        </p:nvSpPr>
        <p:spPr>
          <a:xfrm>
            <a:off x="3108960" y="3931920"/>
            <a:ext cx="539496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Personal performance summary and profile settings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System Architecture</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How CradleHub is structured</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2560320" cy="914400"/>
          </a:xfrm>
          <a:prstGeom prst="roundRect">
            <a:avLst>
              <a:gd name="adj" fmla="val 10000"/>
            </a:avLst>
          </a:prstGeom>
          <a:solidFill>
            <a:srgbClr val="C8A96B"/>
          </a:solidFill>
          <a:ln/>
        </p:spPr>
      </p:sp>
      <p:sp>
        <p:nvSpPr>
          <p:cNvPr id="6" name="Text 4"/>
          <p:cNvSpPr/>
          <p:nvPr/>
        </p:nvSpPr>
        <p:spPr>
          <a:xfrm>
            <a:off x="457200" y="1463040"/>
            <a:ext cx="2560320" cy="274320"/>
          </a:xfrm>
          <a:prstGeom prst="rect">
            <a:avLst/>
          </a:prstGeom>
          <a:noFill/>
          <a:ln/>
        </p:spPr>
        <p:txBody>
          <a:bodyPr wrap="square" rtlCol="0" anchor="ctr"/>
          <a:lstStyle/>
          <a:p>
            <a:pPr algn="ctr" indent="0" marL="0">
              <a:buNone/>
            </a:pPr>
            <a:r>
              <a:rPr lang="en-US" sz="1300" b="1" dirty="0">
                <a:solidFill>
                  <a:srgbClr val="FAFAFA"/>
                </a:solidFill>
                <a:latin typeface="Calibri" pitchFamily="34" charset="0"/>
                <a:ea typeface="Calibri" pitchFamily="34" charset="-122"/>
                <a:cs typeface="Calibri" pitchFamily="34" charset="-120"/>
              </a:rPr>
              <a:t>Public Website</a:t>
            </a:r>
            <a:endParaRPr lang="en-US" sz="1300" dirty="0"/>
          </a:p>
        </p:txBody>
      </p:sp>
      <p:sp>
        <p:nvSpPr>
          <p:cNvPr id="7" name="Text 5"/>
          <p:cNvSpPr/>
          <p:nvPr/>
        </p:nvSpPr>
        <p:spPr>
          <a:xfrm>
            <a:off x="457200" y="1783080"/>
            <a:ext cx="2560320" cy="365760"/>
          </a:xfrm>
          <a:prstGeom prst="rect">
            <a:avLst/>
          </a:prstGeom>
          <a:noFill/>
          <a:ln/>
        </p:spPr>
        <p:txBody>
          <a:bodyPr wrap="square" rtlCol="0" anchor="ctr"/>
          <a:lstStyle/>
          <a:p>
            <a:pPr algn="ctr" indent="0" marL="0">
              <a:buNone/>
            </a:pPr>
            <a:r>
              <a:rPr lang="en-US" sz="1000" dirty="0">
                <a:solidFill>
                  <a:srgbClr val="FAFAFA"/>
                </a:solidFill>
                <a:latin typeface="Calibri" pitchFamily="34" charset="0"/>
                <a:ea typeface="Calibri" pitchFamily="34" charset="-122"/>
                <a:cs typeface="Calibri" pitchFamily="34" charset="-120"/>
              </a:rPr>
              <a:t>Booking, Services, Branches, About, Contact</a:t>
            </a:r>
            <a:endParaRPr lang="en-US" sz="1000" dirty="0"/>
          </a:p>
        </p:txBody>
      </p:sp>
      <p:sp>
        <p:nvSpPr>
          <p:cNvPr id="8" name="Shape 6"/>
          <p:cNvSpPr/>
          <p:nvPr/>
        </p:nvSpPr>
        <p:spPr>
          <a:xfrm>
            <a:off x="1737360" y="2286000"/>
            <a:ext cx="9144" cy="365760"/>
          </a:xfrm>
          <a:prstGeom prst="line">
            <a:avLst/>
          </a:prstGeom>
          <a:noFill/>
          <a:ln w="25400">
            <a:solidFill>
              <a:srgbClr val="6B7A6F"/>
            </a:solidFill>
            <a:prstDash val="solid"/>
            <a:tailEnd type="arrow"/>
          </a:ln>
        </p:spPr>
      </p:sp>
      <p:sp>
        <p:nvSpPr>
          <p:cNvPr id="9" name="Shape 7"/>
          <p:cNvSpPr/>
          <p:nvPr/>
        </p:nvSpPr>
        <p:spPr>
          <a:xfrm>
            <a:off x="457200" y="2651760"/>
            <a:ext cx="2560320" cy="822960"/>
          </a:xfrm>
          <a:prstGeom prst="roundRect">
            <a:avLst>
              <a:gd name="adj" fmla="val 11111"/>
            </a:avLst>
          </a:prstGeom>
          <a:solidFill>
            <a:srgbClr val="163A2B"/>
          </a:solidFill>
          <a:ln/>
        </p:spPr>
      </p:sp>
      <p:sp>
        <p:nvSpPr>
          <p:cNvPr id="10" name="Text 8"/>
          <p:cNvSpPr/>
          <p:nvPr/>
        </p:nvSpPr>
        <p:spPr>
          <a:xfrm>
            <a:off x="457200" y="2788920"/>
            <a:ext cx="2560320" cy="274320"/>
          </a:xfrm>
          <a:prstGeom prst="rect">
            <a:avLst/>
          </a:prstGeom>
          <a:noFill/>
          <a:ln/>
        </p:spPr>
        <p:txBody>
          <a:bodyPr wrap="square" rtlCol="0" anchor="ctr"/>
          <a:lstStyle/>
          <a:p>
            <a:pPr algn="ctr" indent="0" marL="0">
              <a:buNone/>
            </a:pPr>
            <a:r>
              <a:rPr lang="en-US" sz="1300" b="1" dirty="0">
                <a:solidFill>
                  <a:srgbClr val="C8A96B"/>
                </a:solidFill>
                <a:latin typeface="Calibri" pitchFamily="34" charset="0"/>
                <a:ea typeface="Calibri" pitchFamily="34" charset="-122"/>
                <a:cs typeface="Calibri" pitchFamily="34" charset="-120"/>
              </a:rPr>
              <a:t>Booking Engine</a:t>
            </a:r>
            <a:endParaRPr lang="en-US" sz="1300" dirty="0"/>
          </a:p>
        </p:txBody>
      </p:sp>
      <p:sp>
        <p:nvSpPr>
          <p:cNvPr id="11" name="Text 9"/>
          <p:cNvSpPr/>
          <p:nvPr/>
        </p:nvSpPr>
        <p:spPr>
          <a:xfrm>
            <a:off x="457200" y="3063240"/>
            <a:ext cx="2560320" cy="365760"/>
          </a:xfrm>
          <a:prstGeom prst="rect">
            <a:avLst/>
          </a:prstGeom>
          <a:noFill/>
          <a:ln/>
        </p:spPr>
        <p:txBody>
          <a:bodyPr wrap="square" rtlCol="0" anchor="ctr"/>
          <a:lstStyle/>
          <a:p>
            <a:pPr algn="ctr" indent="0" marL="0">
              <a:buNone/>
            </a:pPr>
            <a:r>
              <a:rPr lang="en-US" sz="1000" dirty="0">
                <a:solidFill>
                  <a:srgbClr val="FAFAFA"/>
                </a:solidFill>
                <a:latin typeface="Calibri" pitchFamily="34" charset="0"/>
                <a:ea typeface="Calibri" pitchFamily="34" charset="-122"/>
                <a:cs typeface="Calibri" pitchFamily="34" charset="-120"/>
              </a:rPr>
              <a:t>Availability RPC, Conflict Checking</a:t>
            </a:r>
            <a:endParaRPr lang="en-US" sz="1000" dirty="0"/>
          </a:p>
        </p:txBody>
      </p:sp>
      <p:sp>
        <p:nvSpPr>
          <p:cNvPr id="12" name="Shape 10"/>
          <p:cNvSpPr/>
          <p:nvPr/>
        </p:nvSpPr>
        <p:spPr>
          <a:xfrm>
            <a:off x="3017520" y="3063240"/>
            <a:ext cx="548640" cy="9144"/>
          </a:xfrm>
          <a:prstGeom prst="line">
            <a:avLst/>
          </a:prstGeom>
          <a:noFill/>
          <a:ln w="25400">
            <a:solidFill>
              <a:srgbClr val="6B7A6F"/>
            </a:solidFill>
            <a:prstDash val="solid"/>
            <a:tailEnd type="arrow"/>
          </a:ln>
        </p:spPr>
      </p:sp>
      <p:sp>
        <p:nvSpPr>
          <p:cNvPr id="13" name="Shape 11"/>
          <p:cNvSpPr/>
          <p:nvPr/>
        </p:nvSpPr>
        <p:spPr>
          <a:xfrm>
            <a:off x="3566160" y="2651760"/>
            <a:ext cx="2011680" cy="822960"/>
          </a:xfrm>
          <a:prstGeom prst="roundRect">
            <a:avLst>
              <a:gd name="adj" fmla="val 11111"/>
            </a:avLst>
          </a:prstGeom>
          <a:solidFill>
            <a:srgbClr val="6B7A6F"/>
          </a:solidFill>
          <a:ln/>
        </p:spPr>
      </p:sp>
      <p:sp>
        <p:nvSpPr>
          <p:cNvPr id="14" name="Text 12"/>
          <p:cNvSpPr/>
          <p:nvPr/>
        </p:nvSpPr>
        <p:spPr>
          <a:xfrm>
            <a:off x="3566160" y="2788920"/>
            <a:ext cx="2011680" cy="274320"/>
          </a:xfrm>
          <a:prstGeom prst="rect">
            <a:avLst/>
          </a:prstGeom>
          <a:noFill/>
          <a:ln/>
        </p:spPr>
        <p:txBody>
          <a:bodyPr wrap="square" rtlCol="0" anchor="ctr"/>
          <a:lstStyle/>
          <a:p>
            <a:pPr algn="ctr" indent="0" marL="0">
              <a:buNone/>
            </a:pPr>
            <a:r>
              <a:rPr lang="en-US" sz="1300" b="1" dirty="0">
                <a:solidFill>
                  <a:srgbClr val="FAFAFA"/>
                </a:solidFill>
                <a:latin typeface="Calibri" pitchFamily="34" charset="0"/>
                <a:ea typeface="Calibri" pitchFamily="34" charset="-122"/>
                <a:cs typeface="Calibri" pitchFamily="34" charset="-120"/>
              </a:rPr>
              <a:t>Supabase DB</a:t>
            </a:r>
            <a:endParaRPr lang="en-US" sz="1300" dirty="0"/>
          </a:p>
        </p:txBody>
      </p:sp>
      <p:sp>
        <p:nvSpPr>
          <p:cNvPr id="15" name="Text 13"/>
          <p:cNvSpPr/>
          <p:nvPr/>
        </p:nvSpPr>
        <p:spPr>
          <a:xfrm>
            <a:off x="3566160" y="3063240"/>
            <a:ext cx="2011680" cy="365760"/>
          </a:xfrm>
          <a:prstGeom prst="rect">
            <a:avLst/>
          </a:prstGeom>
          <a:noFill/>
          <a:ln/>
        </p:spPr>
        <p:txBody>
          <a:bodyPr wrap="square" rtlCol="0" anchor="ctr"/>
          <a:lstStyle/>
          <a:p>
            <a:pPr algn="ctr" indent="0" marL="0">
              <a:buNone/>
            </a:pPr>
            <a:r>
              <a:rPr lang="en-US" sz="1000" dirty="0">
                <a:solidFill>
                  <a:srgbClr val="FAFAFA"/>
                </a:solidFill>
                <a:latin typeface="Calibri" pitchFamily="34" charset="0"/>
                <a:ea typeface="Calibri" pitchFamily="34" charset="-122"/>
                <a:cs typeface="Calibri" pitchFamily="34" charset="-120"/>
              </a:rPr>
              <a:t>PostgreSQL + Auth + RLS</a:t>
            </a:r>
            <a:endParaRPr lang="en-US" sz="1000" dirty="0"/>
          </a:p>
        </p:txBody>
      </p:sp>
      <p:sp>
        <p:nvSpPr>
          <p:cNvPr id="16" name="Shape 14"/>
          <p:cNvSpPr/>
          <p:nvPr/>
        </p:nvSpPr>
        <p:spPr>
          <a:xfrm>
            <a:off x="4572000" y="2286000"/>
            <a:ext cx="9144" cy="365760"/>
          </a:xfrm>
          <a:prstGeom prst="line">
            <a:avLst/>
          </a:prstGeom>
          <a:noFill/>
          <a:ln w="25400">
            <a:solidFill>
              <a:srgbClr val="6B7A6F"/>
            </a:solidFill>
            <a:prstDash val="solid"/>
            <a:tailEnd type="arrow"/>
          </a:ln>
        </p:spPr>
      </p:sp>
      <p:sp>
        <p:nvSpPr>
          <p:cNvPr id="17" name="Shape 15"/>
          <p:cNvSpPr/>
          <p:nvPr/>
        </p:nvSpPr>
        <p:spPr>
          <a:xfrm>
            <a:off x="3566160" y="1371600"/>
            <a:ext cx="5120640" cy="914400"/>
          </a:xfrm>
          <a:prstGeom prst="roundRect">
            <a:avLst>
              <a:gd name="adj" fmla="val 10000"/>
            </a:avLst>
          </a:prstGeom>
          <a:solidFill>
            <a:srgbClr val="FAFAFA"/>
          </a:solidFill>
          <a:ln w="25400">
            <a:solidFill>
              <a:srgbClr val="163A2B"/>
            </a:solidFill>
            <a:prstDash val="solid"/>
          </a:ln>
        </p:spPr>
      </p:sp>
      <p:sp>
        <p:nvSpPr>
          <p:cNvPr id="18" name="Text 16"/>
          <p:cNvSpPr/>
          <p:nvPr/>
        </p:nvSpPr>
        <p:spPr>
          <a:xfrm>
            <a:off x="3566160" y="1444752"/>
            <a:ext cx="5120640" cy="228600"/>
          </a:xfrm>
          <a:prstGeom prst="rect">
            <a:avLst/>
          </a:prstGeom>
          <a:noFill/>
          <a:ln/>
        </p:spPr>
        <p:txBody>
          <a:bodyPr wrap="square" rtlCol="0" anchor="ctr"/>
          <a:lstStyle/>
          <a:p>
            <a:pPr algn="ctr" indent="0" marL="0">
              <a:buNone/>
            </a:pPr>
            <a:r>
              <a:rPr lang="en-US" sz="1300" b="1" dirty="0">
                <a:solidFill>
                  <a:srgbClr val="163A2B"/>
                </a:solidFill>
                <a:latin typeface="Calibri" pitchFamily="34" charset="0"/>
                <a:ea typeface="Calibri" pitchFamily="34" charset="-122"/>
                <a:cs typeface="Calibri" pitchFamily="34" charset="-120"/>
              </a:rPr>
              <a:t>Admin Workspaces</a:t>
            </a:r>
            <a:endParaRPr lang="en-US" sz="1300" dirty="0"/>
          </a:p>
        </p:txBody>
      </p:sp>
      <p:sp>
        <p:nvSpPr>
          <p:cNvPr id="19" name="Text 17"/>
          <p:cNvSpPr/>
          <p:nvPr/>
        </p:nvSpPr>
        <p:spPr>
          <a:xfrm>
            <a:off x="3566160" y="1783080"/>
            <a:ext cx="5120640" cy="365760"/>
          </a:xfrm>
          <a:prstGeom prst="rect">
            <a:avLst/>
          </a:prstGeom>
          <a:noFill/>
          <a:ln/>
        </p:spPr>
        <p:txBody>
          <a:bodyPr wrap="square" rtlCol="0" anchor="ctr"/>
          <a:lstStyle/>
          <a:p>
            <a:pPr algn="ctr" indent="0" marL="0">
              <a:buNone/>
            </a:pPr>
            <a:r>
              <a:rPr lang="en-US" sz="1100" dirty="0">
                <a:solidFill>
                  <a:srgbClr val="4A4A4A"/>
                </a:solidFill>
                <a:latin typeface="Calibri" pitchFamily="34" charset="0"/>
                <a:ea typeface="Calibri" pitchFamily="34" charset="-122"/>
                <a:cs typeface="Calibri" pitchFamily="34" charset="-120"/>
              </a:rPr>
              <a:t>Owner  |  Manager  |  CRM / Front Desk  |  Staff Portal</a:t>
            </a:r>
            <a:endParaRPr lang="en-US" sz="1100" dirty="0"/>
          </a:p>
        </p:txBody>
      </p:sp>
      <p:sp>
        <p:nvSpPr>
          <p:cNvPr id="20" name="Text 18"/>
          <p:cNvSpPr/>
          <p:nvPr/>
        </p:nvSpPr>
        <p:spPr>
          <a:xfrm>
            <a:off x="457200" y="4206240"/>
            <a:ext cx="8229600" cy="274320"/>
          </a:xfrm>
          <a:prstGeom prst="rect">
            <a:avLst/>
          </a:prstGeom>
          <a:noFill/>
          <a:ln/>
        </p:spPr>
        <p:txBody>
          <a:bodyPr wrap="square" rtlCol="0" anchor="ctr"/>
          <a:lstStyle/>
          <a:p>
            <a:pPr algn="ctr" indent="0" marL="0">
              <a:buNone/>
            </a:pPr>
            <a:r>
              <a:rPr lang="en-US" sz="1200" i="1" dirty="0">
                <a:solidFill>
                  <a:srgbClr val="6B7A6F"/>
                </a:solidFill>
                <a:latin typeface="Calibri" pitchFamily="34" charset="0"/>
                <a:ea typeface="Calibri" pitchFamily="34" charset="-122"/>
                <a:cs typeface="Calibri" pitchFamily="34" charset="-120"/>
              </a:rPr>
              <a:t>Built with: Next.js + TypeScript + Tailwind CSS + Supabase + Vercel</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Tools &amp; Technologies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The technology stack</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Shape 3"/>
          <p:cNvSpPr/>
          <p:nvPr/>
        </p:nvSpPr>
        <p:spPr>
          <a:xfrm>
            <a:off x="457200" y="1371600"/>
            <a:ext cx="8229600" cy="457200"/>
          </a:xfrm>
          <a:prstGeom prst="rect">
            <a:avLst/>
          </a:prstGeom>
          <a:solidFill>
            <a:srgbClr val="FAFAFA"/>
          </a:solidFill>
          <a:ln w="6350">
            <a:solidFill>
              <a:srgbClr val="F0ECE5"/>
            </a:solidFill>
            <a:prstDash val="solid"/>
          </a:ln>
        </p:spPr>
      </p:sp>
      <p:sp>
        <p:nvSpPr>
          <p:cNvPr id="6" name="Text 4"/>
          <p:cNvSpPr/>
          <p:nvPr/>
        </p:nvSpPr>
        <p:spPr>
          <a:xfrm>
            <a:off x="594360" y="1417320"/>
            <a:ext cx="182880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Frontend</a:t>
            </a:r>
            <a:endParaRPr lang="en-US" sz="1200" dirty="0"/>
          </a:p>
        </p:txBody>
      </p:sp>
      <p:sp>
        <p:nvSpPr>
          <p:cNvPr id="7" name="Text 5"/>
          <p:cNvSpPr/>
          <p:nvPr/>
        </p:nvSpPr>
        <p:spPr>
          <a:xfrm>
            <a:off x="2560320" y="1417320"/>
            <a:ext cx="292608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Next.js 15, TypeScript, Tailwind CSS</a:t>
            </a:r>
            <a:endParaRPr lang="en-US" sz="1200" dirty="0"/>
          </a:p>
        </p:txBody>
      </p:sp>
      <p:sp>
        <p:nvSpPr>
          <p:cNvPr id="8" name="Text 6"/>
          <p:cNvSpPr/>
          <p:nvPr/>
        </p:nvSpPr>
        <p:spPr>
          <a:xfrm>
            <a:off x="5669280" y="1417320"/>
            <a:ext cx="2834640" cy="365760"/>
          </a:xfrm>
          <a:prstGeom prst="rect">
            <a:avLst/>
          </a:prstGeom>
          <a:noFill/>
          <a:ln/>
        </p:spPr>
        <p:txBody>
          <a:bodyPr wrap="square" rtlCol="0" anchor="ctr"/>
          <a:lstStyle/>
          <a:p>
            <a:pPr indent="0" marL="0">
              <a:buNone/>
            </a:pPr>
            <a:r>
              <a:rPr lang="en-US" sz="1100" i="1" dirty="0">
                <a:solidFill>
                  <a:srgbClr val="6B7A6F"/>
                </a:solidFill>
                <a:latin typeface="Calibri" pitchFamily="34" charset="0"/>
                <a:ea typeface="Calibri" pitchFamily="34" charset="-122"/>
                <a:cs typeface="Calibri" pitchFamily="34" charset="-120"/>
              </a:rPr>
              <a:t>Responsive, fast, type-safe UI</a:t>
            </a:r>
            <a:endParaRPr lang="en-US" sz="1100" dirty="0"/>
          </a:p>
        </p:txBody>
      </p:sp>
      <p:sp>
        <p:nvSpPr>
          <p:cNvPr id="9" name="Shape 7"/>
          <p:cNvSpPr/>
          <p:nvPr/>
        </p:nvSpPr>
        <p:spPr>
          <a:xfrm>
            <a:off x="457200" y="1874520"/>
            <a:ext cx="8229600" cy="457200"/>
          </a:xfrm>
          <a:prstGeom prst="rect">
            <a:avLst/>
          </a:prstGeom>
          <a:solidFill>
            <a:srgbClr val="FAFAFA"/>
          </a:solidFill>
          <a:ln w="6350">
            <a:solidFill>
              <a:srgbClr val="F0ECE5"/>
            </a:solidFill>
            <a:prstDash val="solid"/>
          </a:ln>
        </p:spPr>
      </p:sp>
      <p:sp>
        <p:nvSpPr>
          <p:cNvPr id="10" name="Text 8"/>
          <p:cNvSpPr/>
          <p:nvPr/>
        </p:nvSpPr>
        <p:spPr>
          <a:xfrm>
            <a:off x="594360" y="1920240"/>
            <a:ext cx="182880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UI Components</a:t>
            </a:r>
            <a:endParaRPr lang="en-US" sz="1200" dirty="0"/>
          </a:p>
        </p:txBody>
      </p:sp>
      <p:sp>
        <p:nvSpPr>
          <p:cNvPr id="11" name="Text 9"/>
          <p:cNvSpPr/>
          <p:nvPr/>
        </p:nvSpPr>
        <p:spPr>
          <a:xfrm>
            <a:off x="2560320" y="1920240"/>
            <a:ext cx="292608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shadcn/ui</a:t>
            </a:r>
            <a:endParaRPr lang="en-US" sz="1200" dirty="0"/>
          </a:p>
        </p:txBody>
      </p:sp>
      <p:sp>
        <p:nvSpPr>
          <p:cNvPr id="12" name="Text 10"/>
          <p:cNvSpPr/>
          <p:nvPr/>
        </p:nvSpPr>
        <p:spPr>
          <a:xfrm>
            <a:off x="5669280" y="1920240"/>
            <a:ext cx="2834640" cy="365760"/>
          </a:xfrm>
          <a:prstGeom prst="rect">
            <a:avLst/>
          </a:prstGeom>
          <a:noFill/>
          <a:ln/>
        </p:spPr>
        <p:txBody>
          <a:bodyPr wrap="square" rtlCol="0" anchor="ctr"/>
          <a:lstStyle/>
          <a:p>
            <a:pPr indent="0" marL="0">
              <a:buNone/>
            </a:pPr>
            <a:r>
              <a:rPr lang="en-US" sz="1100" i="1" dirty="0">
                <a:solidFill>
                  <a:srgbClr val="6B7A6F"/>
                </a:solidFill>
                <a:latin typeface="Calibri" pitchFamily="34" charset="0"/>
                <a:ea typeface="Calibri" pitchFamily="34" charset="-122"/>
                <a:cs typeface="Calibri" pitchFamily="34" charset="-120"/>
              </a:rPr>
              <a:t>Consistent, accessible design system</a:t>
            </a:r>
            <a:endParaRPr lang="en-US" sz="1100" dirty="0"/>
          </a:p>
        </p:txBody>
      </p:sp>
      <p:sp>
        <p:nvSpPr>
          <p:cNvPr id="13" name="Shape 11"/>
          <p:cNvSpPr/>
          <p:nvPr/>
        </p:nvSpPr>
        <p:spPr>
          <a:xfrm>
            <a:off x="457200" y="2377440"/>
            <a:ext cx="8229600" cy="457200"/>
          </a:xfrm>
          <a:prstGeom prst="rect">
            <a:avLst/>
          </a:prstGeom>
          <a:solidFill>
            <a:srgbClr val="FAFAFA"/>
          </a:solidFill>
          <a:ln w="6350">
            <a:solidFill>
              <a:srgbClr val="F0ECE5"/>
            </a:solidFill>
            <a:prstDash val="solid"/>
          </a:ln>
        </p:spPr>
      </p:sp>
      <p:sp>
        <p:nvSpPr>
          <p:cNvPr id="14" name="Text 12"/>
          <p:cNvSpPr/>
          <p:nvPr/>
        </p:nvSpPr>
        <p:spPr>
          <a:xfrm>
            <a:off x="594360" y="2423160"/>
            <a:ext cx="182880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Backend / Database</a:t>
            </a:r>
            <a:endParaRPr lang="en-US" sz="1200" dirty="0"/>
          </a:p>
        </p:txBody>
      </p:sp>
      <p:sp>
        <p:nvSpPr>
          <p:cNvPr id="15" name="Text 13"/>
          <p:cNvSpPr/>
          <p:nvPr/>
        </p:nvSpPr>
        <p:spPr>
          <a:xfrm>
            <a:off x="2560320" y="2423160"/>
            <a:ext cx="292608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Supabase PostgreSQL</a:t>
            </a:r>
            <a:endParaRPr lang="en-US" sz="1200" dirty="0"/>
          </a:p>
        </p:txBody>
      </p:sp>
      <p:sp>
        <p:nvSpPr>
          <p:cNvPr id="16" name="Text 14"/>
          <p:cNvSpPr/>
          <p:nvPr/>
        </p:nvSpPr>
        <p:spPr>
          <a:xfrm>
            <a:off x="5669280" y="2423160"/>
            <a:ext cx="2834640" cy="365760"/>
          </a:xfrm>
          <a:prstGeom prst="rect">
            <a:avLst/>
          </a:prstGeom>
          <a:noFill/>
          <a:ln/>
        </p:spPr>
        <p:txBody>
          <a:bodyPr wrap="square" rtlCol="0" anchor="ctr"/>
          <a:lstStyle/>
          <a:p>
            <a:pPr indent="0" marL="0">
              <a:buNone/>
            </a:pPr>
            <a:r>
              <a:rPr lang="en-US" sz="1100" i="1" dirty="0">
                <a:solidFill>
                  <a:srgbClr val="6B7A6F"/>
                </a:solidFill>
                <a:latin typeface="Calibri" pitchFamily="34" charset="0"/>
                <a:ea typeface="Calibri" pitchFamily="34" charset="-122"/>
                <a:cs typeface="Calibri" pitchFamily="34" charset="-120"/>
              </a:rPr>
              <a:t>Relational DB with real-time support</a:t>
            </a:r>
            <a:endParaRPr lang="en-US" sz="1100" dirty="0"/>
          </a:p>
        </p:txBody>
      </p:sp>
      <p:sp>
        <p:nvSpPr>
          <p:cNvPr id="17" name="Shape 15"/>
          <p:cNvSpPr/>
          <p:nvPr/>
        </p:nvSpPr>
        <p:spPr>
          <a:xfrm>
            <a:off x="457200" y="2880360"/>
            <a:ext cx="8229600" cy="457200"/>
          </a:xfrm>
          <a:prstGeom prst="rect">
            <a:avLst/>
          </a:prstGeom>
          <a:solidFill>
            <a:srgbClr val="FAFAFA"/>
          </a:solidFill>
          <a:ln w="6350">
            <a:solidFill>
              <a:srgbClr val="F0ECE5"/>
            </a:solidFill>
            <a:prstDash val="solid"/>
          </a:ln>
        </p:spPr>
      </p:sp>
      <p:sp>
        <p:nvSpPr>
          <p:cNvPr id="18" name="Text 16"/>
          <p:cNvSpPr/>
          <p:nvPr/>
        </p:nvSpPr>
        <p:spPr>
          <a:xfrm>
            <a:off x="594360" y="2926080"/>
            <a:ext cx="182880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Authentication</a:t>
            </a:r>
            <a:endParaRPr lang="en-US" sz="1200" dirty="0"/>
          </a:p>
        </p:txBody>
      </p:sp>
      <p:sp>
        <p:nvSpPr>
          <p:cNvPr id="19" name="Text 17"/>
          <p:cNvSpPr/>
          <p:nvPr/>
        </p:nvSpPr>
        <p:spPr>
          <a:xfrm>
            <a:off x="2560320" y="2926080"/>
            <a:ext cx="292608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Supabase Auth</a:t>
            </a:r>
            <a:endParaRPr lang="en-US" sz="1200" dirty="0"/>
          </a:p>
        </p:txBody>
      </p:sp>
      <p:sp>
        <p:nvSpPr>
          <p:cNvPr id="20" name="Text 18"/>
          <p:cNvSpPr/>
          <p:nvPr/>
        </p:nvSpPr>
        <p:spPr>
          <a:xfrm>
            <a:off x="5669280" y="2926080"/>
            <a:ext cx="2834640" cy="365760"/>
          </a:xfrm>
          <a:prstGeom prst="rect">
            <a:avLst/>
          </a:prstGeom>
          <a:noFill/>
          <a:ln/>
        </p:spPr>
        <p:txBody>
          <a:bodyPr wrap="square" rtlCol="0" anchor="ctr"/>
          <a:lstStyle/>
          <a:p>
            <a:pPr indent="0" marL="0">
              <a:buNone/>
            </a:pPr>
            <a:r>
              <a:rPr lang="en-US" sz="1100" i="1" dirty="0">
                <a:solidFill>
                  <a:srgbClr val="6B7A6F"/>
                </a:solidFill>
                <a:latin typeface="Calibri" pitchFamily="34" charset="0"/>
                <a:ea typeface="Calibri" pitchFamily="34" charset="-122"/>
                <a:cs typeface="Calibri" pitchFamily="34" charset="-120"/>
              </a:rPr>
              <a:t>Secure login with role-based access</a:t>
            </a:r>
            <a:endParaRPr lang="en-US" sz="1100" dirty="0"/>
          </a:p>
        </p:txBody>
      </p:sp>
      <p:sp>
        <p:nvSpPr>
          <p:cNvPr id="21" name="Shape 19"/>
          <p:cNvSpPr/>
          <p:nvPr/>
        </p:nvSpPr>
        <p:spPr>
          <a:xfrm>
            <a:off x="457200" y="3383280"/>
            <a:ext cx="8229600" cy="457200"/>
          </a:xfrm>
          <a:prstGeom prst="rect">
            <a:avLst/>
          </a:prstGeom>
          <a:solidFill>
            <a:srgbClr val="FAFAFA"/>
          </a:solidFill>
          <a:ln w="6350">
            <a:solidFill>
              <a:srgbClr val="F0ECE5"/>
            </a:solidFill>
            <a:prstDash val="solid"/>
          </a:ln>
        </p:spPr>
      </p:sp>
      <p:sp>
        <p:nvSpPr>
          <p:cNvPr id="22" name="Text 20"/>
          <p:cNvSpPr/>
          <p:nvPr/>
        </p:nvSpPr>
        <p:spPr>
          <a:xfrm>
            <a:off x="594360" y="3429000"/>
            <a:ext cx="182880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Deployment</a:t>
            </a:r>
            <a:endParaRPr lang="en-US" sz="1200" dirty="0"/>
          </a:p>
        </p:txBody>
      </p:sp>
      <p:sp>
        <p:nvSpPr>
          <p:cNvPr id="23" name="Text 21"/>
          <p:cNvSpPr/>
          <p:nvPr/>
        </p:nvSpPr>
        <p:spPr>
          <a:xfrm>
            <a:off x="2560320" y="3429000"/>
            <a:ext cx="292608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Vercel</a:t>
            </a:r>
            <a:endParaRPr lang="en-US" sz="1200" dirty="0"/>
          </a:p>
        </p:txBody>
      </p:sp>
      <p:sp>
        <p:nvSpPr>
          <p:cNvPr id="24" name="Text 22"/>
          <p:cNvSpPr/>
          <p:nvPr/>
        </p:nvSpPr>
        <p:spPr>
          <a:xfrm>
            <a:off x="5669280" y="3429000"/>
            <a:ext cx="2834640" cy="365760"/>
          </a:xfrm>
          <a:prstGeom prst="rect">
            <a:avLst/>
          </a:prstGeom>
          <a:noFill/>
          <a:ln/>
        </p:spPr>
        <p:txBody>
          <a:bodyPr wrap="square" rtlCol="0" anchor="ctr"/>
          <a:lstStyle/>
          <a:p>
            <a:pPr indent="0" marL="0">
              <a:buNone/>
            </a:pPr>
            <a:r>
              <a:rPr lang="en-US" sz="1100" i="1" dirty="0">
                <a:solidFill>
                  <a:srgbClr val="6B7A6F"/>
                </a:solidFill>
                <a:latin typeface="Calibri" pitchFamily="34" charset="0"/>
                <a:ea typeface="Calibri" pitchFamily="34" charset="-122"/>
                <a:cs typeface="Calibri" pitchFamily="34" charset="-120"/>
              </a:rPr>
              <a:t>Fast global hosting with CI/CD</a:t>
            </a:r>
            <a:endParaRPr lang="en-US" sz="1100" dirty="0"/>
          </a:p>
        </p:txBody>
      </p:sp>
      <p:sp>
        <p:nvSpPr>
          <p:cNvPr id="25" name="Shape 23"/>
          <p:cNvSpPr/>
          <p:nvPr/>
        </p:nvSpPr>
        <p:spPr>
          <a:xfrm>
            <a:off x="457200" y="3886200"/>
            <a:ext cx="8229600" cy="457200"/>
          </a:xfrm>
          <a:prstGeom prst="rect">
            <a:avLst/>
          </a:prstGeom>
          <a:solidFill>
            <a:srgbClr val="FAFAFA"/>
          </a:solidFill>
          <a:ln w="6350">
            <a:solidFill>
              <a:srgbClr val="F0ECE5"/>
            </a:solidFill>
            <a:prstDash val="solid"/>
          </a:ln>
        </p:spPr>
      </p:sp>
      <p:sp>
        <p:nvSpPr>
          <p:cNvPr id="26" name="Text 24"/>
          <p:cNvSpPr/>
          <p:nvPr/>
        </p:nvSpPr>
        <p:spPr>
          <a:xfrm>
            <a:off x="594360" y="3931920"/>
            <a:ext cx="1828800" cy="365760"/>
          </a:xfrm>
          <a:prstGeom prst="rect">
            <a:avLst/>
          </a:prstGeom>
          <a:noFill/>
          <a:ln/>
        </p:spPr>
        <p:txBody>
          <a:bodyPr wrap="square" rtlCol="0" anchor="ctr"/>
          <a:lstStyle/>
          <a:p>
            <a:pPr indent="0" marL="0">
              <a:buNone/>
            </a:pPr>
            <a:r>
              <a:rPr lang="en-US" sz="1200" b="1" dirty="0">
                <a:solidFill>
                  <a:srgbClr val="163A2B"/>
                </a:solidFill>
                <a:latin typeface="Calibri" pitchFamily="34" charset="0"/>
                <a:ea typeface="Calibri" pitchFamily="34" charset="-122"/>
                <a:cs typeface="Calibri" pitchFamily="34" charset="-120"/>
              </a:rPr>
              <a:t>Version Control</a:t>
            </a:r>
            <a:endParaRPr lang="en-US" sz="1200" dirty="0"/>
          </a:p>
        </p:txBody>
      </p:sp>
      <p:sp>
        <p:nvSpPr>
          <p:cNvPr id="27" name="Text 25"/>
          <p:cNvSpPr/>
          <p:nvPr/>
        </p:nvSpPr>
        <p:spPr>
          <a:xfrm>
            <a:off x="2560320" y="3931920"/>
            <a:ext cx="2926080" cy="365760"/>
          </a:xfrm>
          <a:prstGeom prst="rect">
            <a:avLst/>
          </a:prstGeom>
          <a:noFill/>
          <a:ln/>
        </p:spPr>
        <p:txBody>
          <a:bodyPr wrap="square" rtlCol="0" anchor="ctr"/>
          <a:lstStyle/>
          <a:p>
            <a:pPr indent="0" marL="0">
              <a:buNone/>
            </a:pPr>
            <a:r>
              <a:rPr lang="en-US" sz="1200" dirty="0">
                <a:solidFill>
                  <a:srgbClr val="4A4A4A"/>
                </a:solidFill>
                <a:latin typeface="Calibri" pitchFamily="34" charset="0"/>
                <a:ea typeface="Calibri" pitchFamily="34" charset="-122"/>
                <a:cs typeface="Calibri" pitchFamily="34" charset="-120"/>
              </a:rPr>
              <a:t>GitHub</a:t>
            </a:r>
            <a:endParaRPr lang="en-US" sz="1200" dirty="0"/>
          </a:p>
        </p:txBody>
      </p:sp>
      <p:sp>
        <p:nvSpPr>
          <p:cNvPr id="28" name="Text 26"/>
          <p:cNvSpPr/>
          <p:nvPr/>
        </p:nvSpPr>
        <p:spPr>
          <a:xfrm>
            <a:off x="5669280" y="3931920"/>
            <a:ext cx="2834640" cy="365760"/>
          </a:xfrm>
          <a:prstGeom prst="rect">
            <a:avLst/>
          </a:prstGeom>
          <a:noFill/>
          <a:ln/>
        </p:spPr>
        <p:txBody>
          <a:bodyPr wrap="square" rtlCol="0" anchor="ctr"/>
          <a:lstStyle/>
          <a:p>
            <a:pPr indent="0" marL="0">
              <a:buNone/>
            </a:pPr>
            <a:r>
              <a:rPr lang="en-US" sz="1100" i="1" dirty="0">
                <a:solidFill>
                  <a:srgbClr val="6B7A6F"/>
                </a:solidFill>
                <a:latin typeface="Calibri" pitchFamily="34" charset="0"/>
                <a:ea typeface="Calibri" pitchFamily="34" charset="-122"/>
                <a:cs typeface="Calibri" pitchFamily="34" charset="-120"/>
              </a:rPr>
              <a:t>Collaborative code management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Why CradleHub Is Useful</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Real business value</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It solves real booking and scheduling problems that spas face every day.</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It helps the spa look more professional with a branded online presence.</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It supports both customer-facing and staff-facing workflows in one platform.</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It can grow from a booking system into a complete business management solution.</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It improves speed, organization, and customer service quality.</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It reduces manual work so staff can focus on delivering great service.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Limitations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Honest scope boundaries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Full online payment integration requires business account setup with providers like GCash or PayMongo.</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Real-time SMS and messaging notifications can be added in a future version.</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Staff role permissions may need refinement as the organization structure evolves.</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Actual testing depends on real business schedules, staff data, and customer traffic.</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Mobile app version is planned but not included in the current web-based scope.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Future Improvements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What comes next</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GCash / PayMongo payment integration for online pre-payment and deposits.</a:t>
            </a:r>
            <a:endParaRPr lang="en-US" sz="1400" dirty="0"/>
          </a:p>
        </p:txBody>
      </p:sp>
      <p:sp>
        <p:nvSpPr>
          <p:cNvPr id="6" name="Text 4"/>
          <p:cNvSpPr/>
          <p:nvPr/>
        </p:nvSpPr>
        <p:spPr>
          <a:xfrm>
            <a:off x="640080" y="171907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SMS / Messenger / WhatsApp reminders and booking confirmations.</a:t>
            </a:r>
            <a:endParaRPr lang="en-US" sz="1400" dirty="0"/>
          </a:p>
        </p:txBody>
      </p:sp>
      <p:sp>
        <p:nvSpPr>
          <p:cNvPr id="7" name="Text 5"/>
          <p:cNvSpPr/>
          <p:nvPr/>
        </p:nvSpPr>
        <p:spPr>
          <a:xfrm>
            <a:off x="640080" y="206654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Customer account and profile system with booking history.</a:t>
            </a:r>
            <a:endParaRPr lang="en-US" sz="1400" dirty="0"/>
          </a:p>
        </p:txBody>
      </p:sp>
      <p:sp>
        <p:nvSpPr>
          <p:cNvPr id="8" name="Text 6"/>
          <p:cNvSpPr/>
          <p:nvPr/>
        </p:nvSpPr>
        <p:spPr>
          <a:xfrm>
            <a:off x="640080" y="241401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Loyalty rewards program for repeat customers.</a:t>
            </a:r>
            <a:endParaRPr lang="en-US" sz="1400" dirty="0"/>
          </a:p>
        </p:txBody>
      </p:sp>
      <p:sp>
        <p:nvSpPr>
          <p:cNvPr id="9" name="Text 7"/>
          <p:cNvSpPr/>
          <p:nvPr/>
        </p:nvSpPr>
        <p:spPr>
          <a:xfrm>
            <a:off x="640080" y="276148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Advanced owner reports with revenue trends and staff performance.</a:t>
            </a:r>
            <a:endParaRPr lang="en-US" sz="1400" dirty="0"/>
          </a:p>
        </p:txBody>
      </p:sp>
      <p:sp>
        <p:nvSpPr>
          <p:cNvPr id="10" name="Text 8"/>
          <p:cNvSpPr/>
          <p:nvPr/>
        </p:nvSpPr>
        <p:spPr>
          <a:xfrm>
            <a:off x="640080" y="310896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Native mobile app for iOS and Android.</a:t>
            </a:r>
            <a:endParaRPr lang="en-US" sz="1400" dirty="0"/>
          </a:p>
        </p:txBody>
      </p:sp>
      <p:sp>
        <p:nvSpPr>
          <p:cNvPr id="11" name="Text 9"/>
          <p:cNvSpPr/>
          <p:nvPr/>
        </p:nvSpPr>
        <p:spPr>
          <a:xfrm>
            <a:off x="640080" y="345643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AI assistant for booking support and customer inquiries.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3200" b="1" dirty="0">
                <a:solidFill>
                  <a:srgbClr val="163A2B"/>
                </a:solidFill>
                <a:latin typeface="Calibri" pitchFamily="34" charset="0"/>
                <a:ea typeface="Calibri" pitchFamily="34" charset="-122"/>
                <a:cs typeface="Calibri" pitchFamily="34" charset="-120"/>
              </a:rPr>
              <a:t>Final Summary</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indent="0" marL="0">
              <a:buNone/>
            </a:pPr>
            <a:r>
              <a:rPr lang="en-US" sz="1600" dirty="0">
                <a:solidFill>
                  <a:srgbClr val="6B7A6F"/>
                </a:solidFill>
                <a:latin typeface="Calibri" pitchFamily="34" charset="0"/>
                <a:ea typeface="Calibri" pitchFamily="34" charset="-122"/>
                <a:cs typeface="Calibri" pitchFamily="34" charset="-120"/>
              </a:rPr>
              <a:t>What CradleHub offers</a:t>
            </a:r>
            <a:endParaRPr lang="en-US" sz="1600" dirty="0"/>
          </a:p>
        </p:txBody>
      </p:sp>
      <p:sp>
        <p:nvSpPr>
          <p:cNvPr id="4" name="Shape 2"/>
          <p:cNvSpPr/>
          <p:nvPr/>
        </p:nvSpPr>
        <p:spPr>
          <a:xfrm>
            <a:off x="457200" y="1115568"/>
            <a:ext cx="1371600" cy="36576"/>
          </a:xfrm>
          <a:prstGeom prst="rect">
            <a:avLst/>
          </a:prstGeom>
          <a:solidFill>
            <a:srgbClr val="C8A96B"/>
          </a:solidFill>
          <a:ln/>
        </p:spPr>
      </p:sp>
      <p:sp>
        <p:nvSpPr>
          <p:cNvPr id="5" name="Text 3"/>
          <p:cNvSpPr/>
          <p:nvPr/>
        </p:nvSpPr>
        <p:spPr>
          <a:xfrm>
            <a:off x="640080" y="1371600"/>
            <a:ext cx="7863840" cy="914400"/>
          </a:xfrm>
          <a:prstGeom prst="rect">
            <a:avLst/>
          </a:prstGeom>
          <a:noFill/>
          <a:ln/>
        </p:spPr>
        <p:txBody>
          <a:bodyPr wrap="square" rtlCol="0" anchor="ctr"/>
          <a:lstStyle/>
          <a:p>
            <a:pPr algn="ctr" indent="0" marL="0">
              <a:buNone/>
            </a:pPr>
            <a:r>
              <a:rPr lang="en-US" sz="1800" i="1" dirty="0">
                <a:solidFill>
                  <a:srgbClr val="163A2B"/>
                </a:solidFill>
                <a:latin typeface="Calibri" pitchFamily="34" charset="0"/>
                <a:ea typeface="Calibri" pitchFamily="34" charset="-122"/>
                <a:cs typeface="Calibri" pitchFamily="34" charset="-120"/>
              </a:rPr>
              <a:t>"CradleHub is a proposed spa booking and management system that helps Cradle Massage &amp; Wellness Spa manage appointments, staff schedules, branches, and customer bookings in one organized platform."</a:t>
            </a:r>
            <a:endParaRPr lang="en-US" sz="1800" dirty="0"/>
          </a:p>
        </p:txBody>
      </p:sp>
      <p:sp>
        <p:nvSpPr>
          <p:cNvPr id="6" name="Text 4"/>
          <p:cNvSpPr/>
          <p:nvPr/>
        </p:nvSpPr>
        <p:spPr>
          <a:xfrm>
            <a:off x="640080" y="2468880"/>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Improves customer convenience with online booking.</a:t>
            </a:r>
            <a:endParaRPr lang="en-US" sz="1400" dirty="0"/>
          </a:p>
        </p:txBody>
      </p:sp>
      <p:sp>
        <p:nvSpPr>
          <p:cNvPr id="7" name="Text 5"/>
          <p:cNvSpPr/>
          <p:nvPr/>
        </p:nvSpPr>
        <p:spPr>
          <a:xfrm>
            <a:off x="640080" y="2816352"/>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Strengthens staff coordination with real-time schedules.</a:t>
            </a:r>
            <a:endParaRPr lang="en-US" sz="1400" dirty="0"/>
          </a:p>
        </p:txBody>
      </p:sp>
      <p:sp>
        <p:nvSpPr>
          <p:cNvPr id="8" name="Text 6"/>
          <p:cNvSpPr/>
          <p:nvPr/>
        </p:nvSpPr>
        <p:spPr>
          <a:xfrm>
            <a:off x="640080" y="3163824"/>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Gives managers and owners clear operational visibility.</a:t>
            </a:r>
            <a:endParaRPr lang="en-US" sz="1400" dirty="0"/>
          </a:p>
        </p:txBody>
      </p:sp>
      <p:sp>
        <p:nvSpPr>
          <p:cNvPr id="9" name="Text 7"/>
          <p:cNvSpPr/>
          <p:nvPr/>
        </p:nvSpPr>
        <p:spPr>
          <a:xfrm>
            <a:off x="640080" y="3511296"/>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Replaces manual processes with an organized, automated system.</a:t>
            </a:r>
            <a:endParaRPr lang="en-US" sz="1400" dirty="0"/>
          </a:p>
        </p:txBody>
      </p:sp>
      <p:sp>
        <p:nvSpPr>
          <p:cNvPr id="10" name="Text 8"/>
          <p:cNvSpPr/>
          <p:nvPr/>
        </p:nvSpPr>
        <p:spPr>
          <a:xfrm>
            <a:off x="640080" y="3858768"/>
            <a:ext cx="8046720" cy="320040"/>
          </a:xfrm>
          <a:prstGeom prst="rect">
            <a:avLst/>
          </a:prstGeom>
          <a:noFill/>
          <a:ln/>
        </p:spPr>
        <p:txBody>
          <a:bodyPr wrap="square" rtlCol="0" anchor="ctr"/>
          <a:lstStyle/>
          <a:p>
            <a:pPr indent="0" marL="0">
              <a:buNone/>
            </a:pPr>
            <a:r>
              <a:rPr lang="en-US" sz="1400" b="1" dirty="0">
                <a:solidFill>
                  <a:srgbClr val="C8A96B"/>
                </a:solidFill>
                <a:latin typeface="Calibri" pitchFamily="34" charset="0"/>
                <a:ea typeface="Calibri" pitchFamily="34" charset="-122"/>
                <a:cs typeface="Calibri" pitchFamily="34" charset="-120"/>
              </a:rPr>
              <a:t>•  </a:t>
            </a:r>
            <a:pPr indent="0" marL="0">
              <a:buNone/>
            </a:pPr>
            <a:r>
              <a:rPr lang="en-US" sz="1400" dirty="0">
                <a:solidFill>
                  <a:srgbClr val="4A4A4A"/>
                </a:solidFill>
                <a:latin typeface="Calibri" pitchFamily="34" charset="0"/>
                <a:ea typeface="Calibri" pitchFamily="34" charset="-122"/>
                <a:cs typeface="Calibri" pitchFamily="34" charset="-120"/>
              </a:rPr>
              <a:t>Provides a foundation for future growth and expansion.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4000" b="1" dirty="0">
                <a:solidFill>
                  <a:srgbClr val="C8A96B"/>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457200" y="2468880"/>
            <a:ext cx="8229600" cy="457200"/>
          </a:xfrm>
          <a:prstGeom prst="rect">
            <a:avLst/>
          </a:prstGeom>
          <a:noFill/>
          <a:ln/>
        </p:spPr>
        <p:txBody>
          <a:bodyPr wrap="square" rtlCol="0" anchor="ctr"/>
          <a:lstStyle/>
          <a:p>
            <a:pPr algn="ctr" indent="0" marL="0">
              <a:buNone/>
            </a:pPr>
            <a:r>
              <a:rPr lang="en-US" sz="1800" dirty="0">
                <a:solidFill>
                  <a:srgbClr val="F5F0E8"/>
                </a:solidFill>
                <a:latin typeface="Calibri" pitchFamily="34" charset="0"/>
                <a:ea typeface="Calibri" pitchFamily="34" charset="-122"/>
                <a:cs typeface="Calibri" pitchFamily="34" charset="-120"/>
              </a:rPr>
              <a:t>Questions &amp; Answers</a:t>
            </a:r>
            <a:endParaRPr lang="en-US" sz="1800" dirty="0"/>
          </a:p>
        </p:txBody>
      </p:sp>
      <p:sp>
        <p:nvSpPr>
          <p:cNvPr id="4" name="Text 2"/>
          <p:cNvSpPr/>
          <p:nvPr/>
        </p:nvSpPr>
        <p:spPr>
          <a:xfrm>
            <a:off x="457200" y="3108960"/>
            <a:ext cx="8229600" cy="365760"/>
          </a:xfrm>
          <a:prstGeom prst="rect">
            <a:avLst/>
          </a:prstGeom>
          <a:noFill/>
          <a:ln/>
        </p:spPr>
        <p:txBody>
          <a:bodyPr wrap="square" rtlCol="0" anchor="ctr"/>
          <a:lstStyle/>
          <a:p>
            <a:pPr algn="ctr" indent="0" marL="0">
              <a:buNone/>
            </a:pPr>
            <a:r>
              <a:rPr lang="en-US" sz="1600" dirty="0">
                <a:solidFill>
                  <a:srgbClr val="FAFAFA"/>
                </a:solidFill>
                <a:latin typeface="Calibri" pitchFamily="34" charset="0"/>
                <a:ea typeface="Calibri" pitchFamily="34" charset="-122"/>
                <a:cs typeface="Calibri" pitchFamily="34" charset="-120"/>
              </a:rPr>
              <a:t>Presented by: Malcom P. Gwanmesia</a:t>
            </a:r>
            <a:endParaRPr lang="en-US" sz="1600" dirty="0"/>
          </a:p>
        </p:txBody>
      </p:sp>
      <p:sp>
        <p:nvSpPr>
          <p:cNvPr id="5" name="Text 3"/>
          <p:cNvSpPr/>
          <p:nvPr/>
        </p:nvSpPr>
        <p:spPr>
          <a:xfrm>
            <a:off x="457200" y="3520440"/>
            <a:ext cx="8229600" cy="274320"/>
          </a:xfrm>
          <a:prstGeom prst="rect">
            <a:avLst/>
          </a:prstGeom>
          <a:noFill/>
          <a:ln/>
        </p:spPr>
        <p:txBody>
          <a:bodyPr wrap="square" rtlCol="0" anchor="ctr"/>
          <a:lstStyle/>
          <a:p>
            <a:pPr algn="ctr" indent="0" marL="0">
              <a:buNone/>
            </a:pPr>
            <a:r>
              <a:rPr lang="en-US" sz="1200" dirty="0">
                <a:solidFill>
                  <a:srgbClr val="C8A96B"/>
                </a:solidFill>
                <a:latin typeface="Calibri" pitchFamily="34" charset="0"/>
                <a:ea typeface="Calibri" pitchFamily="34" charset="-122"/>
                <a:cs typeface="Calibri" pitchFamily="34" charset="-120"/>
              </a:rPr>
              <a:t>System Analysis and Design  |  Final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CradleHub: Spa Booking and Management System</dc:title>
  <dc:subject>Final Project Presentation</dc:subject>
  <dc:creator>Malcom P. Gwanmesia</dc:creator>
  <cp:lastModifiedBy>Malcom P. Gwanmesia</cp:lastModifiedBy>
  <cp:revision>1</cp:revision>
  <dcterms:created xsi:type="dcterms:W3CDTF">2026-05-10T16:14:57Z</dcterms:created>
  <dcterms:modified xsi:type="dcterms:W3CDTF">2026-05-10T16:14:57Z</dcterms:modified>
</cp:coreProperties>
</file>